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0" y="0"/>
            <a:ext cx="12191695" cy="164592"/>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417320"/>
            <a:ext cx="822960" cy="64008"/>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00200"/>
            <a:ext cx="9144000" cy="215444"/>
          </a:xfrm>
          <a:prstGeom prst="rect">
            <a:avLst/>
          </a:prstGeom>
          <a:noFill/>
        </p:spPr>
        <p:txBody>
          <a:bodyPr wrap="square" lIns="0" tIns="0" rIns="0" bIns="0" anchor="t">
            <a:spAutoFit/>
          </a:bodyPr>
          <a:lstStyle/>
          <a:p>
            <a:pPr algn="l">
              <a:lnSpc>
                <a:spcPct val="100000"/>
              </a:lnSpc>
            </a:pPr>
            <a:r>
              <a:rPr sz="1400" b="1" i="0" dirty="0">
                <a:solidFill>
                  <a:srgbClr val="1B3A6B"/>
                </a:solidFill>
                <a:latin typeface="Calibri"/>
              </a:rPr>
              <a:t>MIT CAPSTONE PROJECT  ·  TITLE HEARING</a:t>
            </a:r>
          </a:p>
        </p:txBody>
      </p:sp>
      <p:sp>
        <p:nvSpPr>
          <p:cNvPr id="6" name="TextBox 5"/>
          <p:cNvSpPr txBox="1"/>
          <p:nvPr/>
        </p:nvSpPr>
        <p:spPr>
          <a:xfrm>
            <a:off x="621792" y="2057400"/>
            <a:ext cx="10515600" cy="1371600"/>
          </a:xfrm>
          <a:prstGeom prst="rect">
            <a:avLst/>
          </a:prstGeom>
          <a:noFill/>
        </p:spPr>
        <p:txBody>
          <a:bodyPr wrap="square" lIns="0" tIns="0" rIns="0" bIns="0" anchor="t">
            <a:spAutoFit/>
          </a:bodyPr>
          <a:lstStyle/>
          <a:p>
            <a:pPr algn="l">
              <a:lnSpc>
                <a:spcPct val="100000"/>
              </a:lnSpc>
            </a:pPr>
            <a:r>
              <a:rPr sz="6400" b="1" i="0">
                <a:solidFill>
                  <a:srgbClr val="122647"/>
                </a:solidFill>
                <a:latin typeface="Calibri"/>
              </a:rPr>
              <a:t>SurvAIve PH</a:t>
            </a:r>
          </a:p>
        </p:txBody>
      </p:sp>
      <p:sp>
        <p:nvSpPr>
          <p:cNvPr id="7" name="TextBox 6"/>
          <p:cNvSpPr txBox="1"/>
          <p:nvPr/>
        </p:nvSpPr>
        <p:spPr>
          <a:xfrm>
            <a:off x="640080" y="3063240"/>
            <a:ext cx="9875520" cy="740972"/>
          </a:xfrm>
          <a:prstGeom prst="rect">
            <a:avLst/>
          </a:prstGeom>
          <a:noFill/>
        </p:spPr>
        <p:txBody>
          <a:bodyPr wrap="square" lIns="0" tIns="0" rIns="0" bIns="0" anchor="t">
            <a:spAutoFit/>
          </a:bodyPr>
          <a:lstStyle/>
          <a:p>
            <a:pPr algn="l">
              <a:lnSpc>
                <a:spcPct val="125000"/>
              </a:lnSpc>
            </a:pPr>
            <a:r>
              <a:rPr lang="en-US" sz="2000" b="0" i="1" dirty="0" err="1">
                <a:solidFill>
                  <a:srgbClr val="4B5563"/>
                </a:solidFill>
                <a:latin typeface="Calibri"/>
              </a:rPr>
              <a:t>SurvAIve</a:t>
            </a:r>
            <a:r>
              <a:rPr lang="en-US" sz="2000" b="0" i="1" dirty="0">
                <a:solidFill>
                  <a:srgbClr val="4B5563"/>
                </a:solidFill>
                <a:latin typeface="Calibri"/>
              </a:rPr>
              <a:t> PH: An AI-Powered Mesh-Based Disaster Response and Victim Rescue System for Typhoon-Prone Areas</a:t>
            </a:r>
            <a:endParaRPr sz="2000" b="0" i="1" dirty="0">
              <a:solidFill>
                <a:srgbClr val="4B5563"/>
              </a:solidFill>
              <a:latin typeface="Calibri"/>
            </a:endParaRPr>
          </a:p>
        </p:txBody>
      </p:sp>
      <p:sp>
        <p:nvSpPr>
          <p:cNvPr id="8" name="Rounded Rectangle 7"/>
          <p:cNvSpPr/>
          <p:nvPr/>
        </p:nvSpPr>
        <p:spPr>
          <a:xfrm>
            <a:off x="640080" y="4343400"/>
            <a:ext cx="6949440" cy="155448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4343400"/>
            <a:ext cx="73152" cy="1554480"/>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526280"/>
            <a:ext cx="3200400" cy="320040"/>
          </a:xfrm>
          <a:prstGeom prst="rect">
            <a:avLst/>
          </a:prstGeom>
          <a:noFill/>
        </p:spPr>
        <p:txBody>
          <a:bodyPr wrap="square" lIns="0" tIns="0" rIns="0" bIns="0" anchor="t">
            <a:spAutoFit/>
          </a:bodyPr>
          <a:lstStyle/>
          <a:p>
            <a:pPr algn="l">
              <a:lnSpc>
                <a:spcPct val="100000"/>
              </a:lnSpc>
            </a:pPr>
            <a:r>
              <a:rPr sz="1050" b="1" i="0">
                <a:solidFill>
                  <a:srgbClr val="6B7480"/>
                </a:solidFill>
                <a:latin typeface="Calibri"/>
              </a:rPr>
              <a:t>PROPONENT(S)</a:t>
            </a:r>
          </a:p>
        </p:txBody>
      </p:sp>
      <p:sp>
        <p:nvSpPr>
          <p:cNvPr id="11" name="TextBox 10"/>
          <p:cNvSpPr txBox="1"/>
          <p:nvPr/>
        </p:nvSpPr>
        <p:spPr>
          <a:xfrm>
            <a:off x="914400" y="4818888"/>
            <a:ext cx="3200400" cy="365760"/>
          </a:xfrm>
          <a:prstGeom prst="rect">
            <a:avLst/>
          </a:prstGeom>
          <a:noFill/>
        </p:spPr>
        <p:txBody>
          <a:bodyPr wrap="square" lIns="0" tIns="0" rIns="0" bIns="0" anchor="t">
            <a:spAutoFit/>
          </a:bodyPr>
          <a:lstStyle/>
          <a:p>
            <a:pPr algn="l">
              <a:lnSpc>
                <a:spcPct val="100000"/>
              </a:lnSpc>
            </a:pPr>
            <a:r>
              <a:rPr sz="1400" b="0" i="0">
                <a:solidFill>
                  <a:srgbClr val="1F2937"/>
                </a:solidFill>
                <a:latin typeface="Calibri"/>
              </a:rPr>
              <a:t>[Proponent Name(s)]</a:t>
            </a:r>
          </a:p>
        </p:txBody>
      </p:sp>
      <p:sp>
        <p:nvSpPr>
          <p:cNvPr id="12" name="TextBox 11"/>
          <p:cNvSpPr txBox="1"/>
          <p:nvPr/>
        </p:nvSpPr>
        <p:spPr>
          <a:xfrm>
            <a:off x="4114800" y="4526280"/>
            <a:ext cx="3291840" cy="320040"/>
          </a:xfrm>
          <a:prstGeom prst="rect">
            <a:avLst/>
          </a:prstGeom>
          <a:noFill/>
        </p:spPr>
        <p:txBody>
          <a:bodyPr wrap="square" lIns="0" tIns="0" rIns="0" bIns="0" anchor="t">
            <a:spAutoFit/>
          </a:bodyPr>
          <a:lstStyle/>
          <a:p>
            <a:pPr algn="l">
              <a:lnSpc>
                <a:spcPct val="100000"/>
              </a:lnSpc>
            </a:pPr>
            <a:r>
              <a:rPr sz="1050" b="1" i="0">
                <a:solidFill>
                  <a:srgbClr val="6B7480"/>
                </a:solidFill>
                <a:latin typeface="Calibri"/>
              </a:rPr>
              <a:t>ADVISER</a:t>
            </a:r>
          </a:p>
        </p:txBody>
      </p:sp>
      <p:sp>
        <p:nvSpPr>
          <p:cNvPr id="13" name="TextBox 12"/>
          <p:cNvSpPr txBox="1"/>
          <p:nvPr/>
        </p:nvSpPr>
        <p:spPr>
          <a:xfrm>
            <a:off x="4114800" y="4818888"/>
            <a:ext cx="3291840" cy="365760"/>
          </a:xfrm>
          <a:prstGeom prst="rect">
            <a:avLst/>
          </a:prstGeom>
          <a:noFill/>
        </p:spPr>
        <p:txBody>
          <a:bodyPr wrap="square" lIns="0" tIns="0" rIns="0" bIns="0" anchor="t">
            <a:spAutoFit/>
          </a:bodyPr>
          <a:lstStyle/>
          <a:p>
            <a:pPr algn="l">
              <a:lnSpc>
                <a:spcPct val="100000"/>
              </a:lnSpc>
            </a:pPr>
            <a:r>
              <a:rPr sz="1400" b="0" i="0">
                <a:solidFill>
                  <a:srgbClr val="1F2937"/>
                </a:solidFill>
                <a:latin typeface="Calibri"/>
              </a:rPr>
              <a:t>[Adviser Name]</a:t>
            </a:r>
          </a:p>
        </p:txBody>
      </p:sp>
      <p:sp>
        <p:nvSpPr>
          <p:cNvPr id="14" name="TextBox 13"/>
          <p:cNvSpPr txBox="1"/>
          <p:nvPr/>
        </p:nvSpPr>
        <p:spPr>
          <a:xfrm>
            <a:off x="914400" y="5285232"/>
            <a:ext cx="3200400" cy="320040"/>
          </a:xfrm>
          <a:prstGeom prst="rect">
            <a:avLst/>
          </a:prstGeom>
          <a:noFill/>
        </p:spPr>
        <p:txBody>
          <a:bodyPr wrap="square" lIns="0" tIns="0" rIns="0" bIns="0" anchor="t">
            <a:spAutoFit/>
          </a:bodyPr>
          <a:lstStyle/>
          <a:p>
            <a:pPr algn="l">
              <a:lnSpc>
                <a:spcPct val="100000"/>
              </a:lnSpc>
            </a:pPr>
            <a:r>
              <a:rPr sz="1050" b="1" i="0">
                <a:solidFill>
                  <a:srgbClr val="6B7480"/>
                </a:solidFill>
                <a:latin typeface="Calibri"/>
              </a:rPr>
              <a:t>PROGRAM</a:t>
            </a:r>
          </a:p>
        </p:txBody>
      </p:sp>
      <p:sp>
        <p:nvSpPr>
          <p:cNvPr id="15" name="TextBox 14"/>
          <p:cNvSpPr txBox="1"/>
          <p:nvPr/>
        </p:nvSpPr>
        <p:spPr>
          <a:xfrm>
            <a:off x="914400" y="5532120"/>
            <a:ext cx="4572000" cy="365760"/>
          </a:xfrm>
          <a:prstGeom prst="rect">
            <a:avLst/>
          </a:prstGeom>
          <a:noFill/>
        </p:spPr>
        <p:txBody>
          <a:bodyPr wrap="square" lIns="0" tIns="0" rIns="0" bIns="0" anchor="t">
            <a:spAutoFit/>
          </a:bodyPr>
          <a:lstStyle/>
          <a:p>
            <a:pPr algn="l">
              <a:lnSpc>
                <a:spcPct val="100000"/>
              </a:lnSpc>
            </a:pPr>
            <a:r>
              <a:rPr sz="1250" b="0" i="0">
                <a:solidFill>
                  <a:srgbClr val="1F2937"/>
                </a:solidFill>
                <a:latin typeface="Calibri"/>
              </a:rPr>
              <a:t>Master of Science in Information Technology</a:t>
            </a:r>
          </a:p>
        </p:txBody>
      </p:sp>
      <p:sp>
        <p:nvSpPr>
          <p:cNvPr id="16" name="TextBox 15"/>
          <p:cNvSpPr txBox="1"/>
          <p:nvPr/>
        </p:nvSpPr>
        <p:spPr>
          <a:xfrm>
            <a:off x="4114800" y="5285232"/>
            <a:ext cx="3291840" cy="320040"/>
          </a:xfrm>
          <a:prstGeom prst="rect">
            <a:avLst/>
          </a:prstGeom>
          <a:noFill/>
        </p:spPr>
        <p:txBody>
          <a:bodyPr wrap="square" lIns="0" tIns="0" rIns="0" bIns="0" anchor="t">
            <a:spAutoFit/>
          </a:bodyPr>
          <a:lstStyle/>
          <a:p>
            <a:pPr algn="l">
              <a:lnSpc>
                <a:spcPct val="100000"/>
              </a:lnSpc>
            </a:pPr>
            <a:r>
              <a:rPr sz="1050" b="1" i="0">
                <a:solidFill>
                  <a:srgbClr val="6B7480"/>
                </a:solidFill>
                <a:latin typeface="Calibri"/>
              </a:rPr>
              <a:t>DATE</a:t>
            </a:r>
          </a:p>
        </p:txBody>
      </p:sp>
      <p:sp>
        <p:nvSpPr>
          <p:cNvPr id="17" name="TextBox 16"/>
          <p:cNvSpPr txBox="1"/>
          <p:nvPr/>
        </p:nvSpPr>
        <p:spPr>
          <a:xfrm>
            <a:off x="4114800" y="5532120"/>
            <a:ext cx="2743200" cy="365760"/>
          </a:xfrm>
          <a:prstGeom prst="rect">
            <a:avLst/>
          </a:prstGeom>
          <a:noFill/>
        </p:spPr>
        <p:txBody>
          <a:bodyPr wrap="square" lIns="0" tIns="0" rIns="0" bIns="0" anchor="t">
            <a:spAutoFit/>
          </a:bodyPr>
          <a:lstStyle/>
          <a:p>
            <a:pPr algn="l">
              <a:lnSpc>
                <a:spcPct val="100000"/>
              </a:lnSpc>
            </a:pPr>
            <a:r>
              <a:rPr sz="1250" b="0" i="0">
                <a:solidFill>
                  <a:srgbClr val="1F2937"/>
                </a:solidFill>
                <a:latin typeface="Calibri"/>
              </a:rPr>
              <a:t>[Defense Date]</a:t>
            </a:r>
          </a:p>
        </p:txBody>
      </p:sp>
      <p:sp>
        <p:nvSpPr>
          <p:cNvPr id="18" name="TextBox 17"/>
          <p:cNvSpPr txBox="1"/>
          <p:nvPr/>
        </p:nvSpPr>
        <p:spPr>
          <a:xfrm>
            <a:off x="640080" y="6446520"/>
            <a:ext cx="54864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1B3A6B"/>
                </a:solidFill>
                <a:latin typeface="Calibri"/>
              </a:rPr>
              <a:t>OVERVIEW</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What We'll Cover</a:t>
            </a:r>
          </a:p>
        </p:txBody>
      </p:sp>
      <p:sp>
        <p:nvSpPr>
          <p:cNvPr id="5" name="Rounded Rectangle 4"/>
          <p:cNvSpPr/>
          <p:nvPr/>
        </p:nvSpPr>
        <p:spPr>
          <a:xfrm>
            <a:off x="640080" y="1783080"/>
            <a:ext cx="10927080" cy="768096"/>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837944"/>
            <a:ext cx="64008" cy="65836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929384"/>
            <a:ext cx="822960" cy="502920"/>
          </a:xfrm>
          <a:prstGeom prst="rect">
            <a:avLst/>
          </a:prstGeom>
          <a:noFill/>
        </p:spPr>
        <p:txBody>
          <a:bodyPr wrap="square" lIns="0" tIns="0" rIns="0" bIns="0" anchor="t">
            <a:spAutoFit/>
          </a:bodyPr>
          <a:lstStyle/>
          <a:p>
            <a:pPr algn="l">
              <a:lnSpc>
                <a:spcPct val="100000"/>
              </a:lnSpc>
            </a:pPr>
            <a:r>
              <a:rPr sz="2200" b="1" i="0">
                <a:solidFill>
                  <a:srgbClr val="1B3A6B"/>
                </a:solidFill>
                <a:latin typeface="Calibri"/>
              </a:rPr>
              <a:t>01</a:t>
            </a:r>
          </a:p>
        </p:txBody>
      </p:sp>
      <p:sp>
        <p:nvSpPr>
          <p:cNvPr id="8" name="TextBox 7"/>
          <p:cNvSpPr txBox="1"/>
          <p:nvPr/>
        </p:nvSpPr>
        <p:spPr>
          <a:xfrm>
            <a:off x="1874519" y="1874520"/>
            <a:ext cx="3291840" cy="594360"/>
          </a:xfrm>
          <a:prstGeom prst="rect">
            <a:avLst/>
          </a:prstGeom>
          <a:noFill/>
        </p:spPr>
        <p:txBody>
          <a:bodyPr wrap="square" lIns="0" tIns="0" rIns="0" bIns="0" anchor="ctr">
            <a:spAutoFit/>
          </a:bodyPr>
          <a:lstStyle/>
          <a:p>
            <a:pPr algn="l">
              <a:lnSpc>
                <a:spcPct val="100000"/>
              </a:lnSpc>
            </a:pPr>
            <a:r>
              <a:rPr sz="1600" b="1" i="0">
                <a:solidFill>
                  <a:srgbClr val="122647"/>
                </a:solidFill>
                <a:latin typeface="Calibri"/>
              </a:rPr>
              <a:t>The Problem</a:t>
            </a:r>
          </a:p>
        </p:txBody>
      </p:sp>
      <p:sp>
        <p:nvSpPr>
          <p:cNvPr id="9" name="TextBox 8"/>
          <p:cNvSpPr txBox="1"/>
          <p:nvPr/>
        </p:nvSpPr>
        <p:spPr>
          <a:xfrm>
            <a:off x="5303520" y="1874520"/>
            <a:ext cx="6035040" cy="594360"/>
          </a:xfrm>
          <a:prstGeom prst="rect">
            <a:avLst/>
          </a:prstGeom>
          <a:noFill/>
        </p:spPr>
        <p:txBody>
          <a:bodyPr wrap="square" lIns="0" tIns="0" rIns="0" bIns="0" anchor="ctr">
            <a:spAutoFit/>
          </a:bodyPr>
          <a:lstStyle/>
          <a:p>
            <a:pPr algn="l">
              <a:lnSpc>
                <a:spcPct val="100000"/>
              </a:lnSpc>
            </a:pPr>
            <a:r>
              <a:rPr sz="1250" b="0" i="0">
                <a:solidFill>
                  <a:srgbClr val="4B5563"/>
                </a:solidFill>
                <a:latin typeface="Calibri"/>
              </a:rPr>
              <a:t>Why disaster response in the PH breaks down when networks fail</a:t>
            </a:r>
          </a:p>
        </p:txBody>
      </p:sp>
      <p:sp>
        <p:nvSpPr>
          <p:cNvPr id="10" name="Rounded Rectangle 9"/>
          <p:cNvSpPr/>
          <p:nvPr/>
        </p:nvSpPr>
        <p:spPr>
          <a:xfrm>
            <a:off x="640080" y="2679192"/>
            <a:ext cx="10927080" cy="768096"/>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40080" y="2734056"/>
            <a:ext cx="64008" cy="658368"/>
          </a:xfrm>
          <a:prstGeom prst="roundRect">
            <a:avLst>
              <a:gd name="adj" fmla="val 0"/>
            </a:avLst>
          </a:prstGeom>
          <a:solidFill>
            <a:srgbClr val="3E6B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2825496"/>
            <a:ext cx="822960" cy="502920"/>
          </a:xfrm>
          <a:prstGeom prst="rect">
            <a:avLst/>
          </a:prstGeom>
          <a:noFill/>
        </p:spPr>
        <p:txBody>
          <a:bodyPr wrap="square" lIns="0" tIns="0" rIns="0" bIns="0" anchor="t">
            <a:spAutoFit/>
          </a:bodyPr>
          <a:lstStyle/>
          <a:p>
            <a:pPr algn="l">
              <a:lnSpc>
                <a:spcPct val="100000"/>
              </a:lnSpc>
            </a:pPr>
            <a:r>
              <a:rPr sz="2200" b="1" i="0">
                <a:solidFill>
                  <a:srgbClr val="3E6B9C"/>
                </a:solidFill>
                <a:latin typeface="Calibri"/>
              </a:rPr>
              <a:t>02</a:t>
            </a:r>
          </a:p>
        </p:txBody>
      </p:sp>
      <p:sp>
        <p:nvSpPr>
          <p:cNvPr id="13" name="TextBox 12"/>
          <p:cNvSpPr txBox="1"/>
          <p:nvPr/>
        </p:nvSpPr>
        <p:spPr>
          <a:xfrm>
            <a:off x="1874519" y="2770632"/>
            <a:ext cx="3291840" cy="594360"/>
          </a:xfrm>
          <a:prstGeom prst="rect">
            <a:avLst/>
          </a:prstGeom>
          <a:noFill/>
        </p:spPr>
        <p:txBody>
          <a:bodyPr wrap="square" lIns="0" tIns="0" rIns="0" bIns="0" anchor="ctr">
            <a:spAutoFit/>
          </a:bodyPr>
          <a:lstStyle/>
          <a:p>
            <a:pPr algn="l">
              <a:lnSpc>
                <a:spcPct val="100000"/>
              </a:lnSpc>
            </a:pPr>
            <a:r>
              <a:rPr sz="1600" b="1" i="0">
                <a:solidFill>
                  <a:srgbClr val="122647"/>
                </a:solidFill>
                <a:latin typeface="Calibri"/>
              </a:rPr>
              <a:t>The Solution</a:t>
            </a:r>
          </a:p>
        </p:txBody>
      </p:sp>
      <p:sp>
        <p:nvSpPr>
          <p:cNvPr id="14" name="TextBox 13"/>
          <p:cNvSpPr txBox="1"/>
          <p:nvPr/>
        </p:nvSpPr>
        <p:spPr>
          <a:xfrm>
            <a:off x="5303520" y="2770632"/>
            <a:ext cx="6035040" cy="594360"/>
          </a:xfrm>
          <a:prstGeom prst="rect">
            <a:avLst/>
          </a:prstGeom>
          <a:noFill/>
        </p:spPr>
        <p:txBody>
          <a:bodyPr wrap="square" lIns="0" tIns="0" rIns="0" bIns="0" anchor="ctr">
            <a:spAutoFit/>
          </a:bodyPr>
          <a:lstStyle/>
          <a:p>
            <a:pPr algn="l">
              <a:lnSpc>
                <a:spcPct val="100000"/>
              </a:lnSpc>
            </a:pPr>
            <a:r>
              <a:rPr sz="1250" b="0" i="0">
                <a:solidFill>
                  <a:srgbClr val="4B5563"/>
                </a:solidFill>
                <a:latin typeface="Calibri"/>
              </a:rPr>
              <a:t>SurvAIve PH — offline-first, AI-driven, mesh-networked</a:t>
            </a:r>
          </a:p>
        </p:txBody>
      </p:sp>
      <p:sp>
        <p:nvSpPr>
          <p:cNvPr id="15" name="Rounded Rectangle 14"/>
          <p:cNvSpPr/>
          <p:nvPr/>
        </p:nvSpPr>
        <p:spPr>
          <a:xfrm>
            <a:off x="640080" y="3575304"/>
            <a:ext cx="10927080" cy="768096"/>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3630168"/>
            <a:ext cx="64008" cy="658368"/>
          </a:xfrm>
          <a:prstGeom prst="roundRect">
            <a:avLst>
              <a:gd name="adj" fmla="val 0"/>
            </a:avLst>
          </a:prstGeom>
          <a:solidFill>
            <a:srgbClr val="8E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721608"/>
            <a:ext cx="822960" cy="502920"/>
          </a:xfrm>
          <a:prstGeom prst="rect">
            <a:avLst/>
          </a:prstGeom>
          <a:noFill/>
        </p:spPr>
        <p:txBody>
          <a:bodyPr wrap="square" lIns="0" tIns="0" rIns="0" bIns="0" anchor="t">
            <a:spAutoFit/>
          </a:bodyPr>
          <a:lstStyle/>
          <a:p>
            <a:pPr algn="l">
              <a:lnSpc>
                <a:spcPct val="100000"/>
              </a:lnSpc>
            </a:pPr>
            <a:r>
              <a:rPr sz="2200" b="1" i="0">
                <a:solidFill>
                  <a:srgbClr val="8E1E3F"/>
                </a:solidFill>
                <a:latin typeface="Calibri"/>
              </a:rPr>
              <a:t>03</a:t>
            </a:r>
          </a:p>
        </p:txBody>
      </p:sp>
      <p:sp>
        <p:nvSpPr>
          <p:cNvPr id="18" name="TextBox 17"/>
          <p:cNvSpPr txBox="1"/>
          <p:nvPr/>
        </p:nvSpPr>
        <p:spPr>
          <a:xfrm>
            <a:off x="1874519" y="3666744"/>
            <a:ext cx="3291840" cy="594360"/>
          </a:xfrm>
          <a:prstGeom prst="rect">
            <a:avLst/>
          </a:prstGeom>
          <a:noFill/>
        </p:spPr>
        <p:txBody>
          <a:bodyPr wrap="square" lIns="0" tIns="0" rIns="0" bIns="0" anchor="ctr">
            <a:spAutoFit/>
          </a:bodyPr>
          <a:lstStyle/>
          <a:p>
            <a:pPr algn="l">
              <a:lnSpc>
                <a:spcPct val="100000"/>
              </a:lnSpc>
            </a:pPr>
            <a:r>
              <a:rPr sz="1600" b="1" i="0">
                <a:solidFill>
                  <a:srgbClr val="122647"/>
                </a:solidFill>
                <a:latin typeface="Calibri"/>
              </a:rPr>
              <a:t>Novelty &amp; Innovation</a:t>
            </a:r>
          </a:p>
        </p:txBody>
      </p:sp>
      <p:sp>
        <p:nvSpPr>
          <p:cNvPr id="19" name="TextBox 18"/>
          <p:cNvSpPr txBox="1"/>
          <p:nvPr/>
        </p:nvSpPr>
        <p:spPr>
          <a:xfrm>
            <a:off x="5303520" y="3666744"/>
            <a:ext cx="6035040" cy="594360"/>
          </a:xfrm>
          <a:prstGeom prst="rect">
            <a:avLst/>
          </a:prstGeom>
          <a:noFill/>
        </p:spPr>
        <p:txBody>
          <a:bodyPr wrap="square" lIns="0" tIns="0" rIns="0" bIns="0" anchor="ctr">
            <a:spAutoFit/>
          </a:bodyPr>
          <a:lstStyle/>
          <a:p>
            <a:pPr algn="l">
              <a:lnSpc>
                <a:spcPct val="100000"/>
              </a:lnSpc>
            </a:pPr>
            <a:r>
              <a:rPr sz="1250" b="0" i="0">
                <a:solidFill>
                  <a:srgbClr val="4B5563"/>
                </a:solidFill>
                <a:latin typeface="Calibri"/>
              </a:rPr>
              <a:t>What makes this one of the first of its kind in the country</a:t>
            </a:r>
          </a:p>
        </p:txBody>
      </p:sp>
      <p:sp>
        <p:nvSpPr>
          <p:cNvPr id="20" name="Rounded Rectangle 19"/>
          <p:cNvSpPr/>
          <p:nvPr/>
        </p:nvSpPr>
        <p:spPr>
          <a:xfrm>
            <a:off x="640080" y="4471416"/>
            <a:ext cx="10927080" cy="768096"/>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40080" y="4526280"/>
            <a:ext cx="64008" cy="658368"/>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0120" y="4617720"/>
            <a:ext cx="822960" cy="502920"/>
          </a:xfrm>
          <a:prstGeom prst="rect">
            <a:avLst/>
          </a:prstGeom>
          <a:noFill/>
        </p:spPr>
        <p:txBody>
          <a:bodyPr wrap="square" lIns="0" tIns="0" rIns="0" bIns="0" anchor="t">
            <a:spAutoFit/>
          </a:bodyPr>
          <a:lstStyle/>
          <a:p>
            <a:pPr algn="l">
              <a:lnSpc>
                <a:spcPct val="100000"/>
              </a:lnSpc>
            </a:pPr>
            <a:r>
              <a:rPr sz="2200" b="1" i="0">
                <a:solidFill>
                  <a:srgbClr val="B78A1E"/>
                </a:solidFill>
                <a:latin typeface="Calibri"/>
              </a:rPr>
              <a:t>04</a:t>
            </a:r>
          </a:p>
        </p:txBody>
      </p:sp>
      <p:sp>
        <p:nvSpPr>
          <p:cNvPr id="23" name="TextBox 22"/>
          <p:cNvSpPr txBox="1"/>
          <p:nvPr/>
        </p:nvSpPr>
        <p:spPr>
          <a:xfrm>
            <a:off x="1874519" y="4562856"/>
            <a:ext cx="3291840" cy="594360"/>
          </a:xfrm>
          <a:prstGeom prst="rect">
            <a:avLst/>
          </a:prstGeom>
          <a:noFill/>
        </p:spPr>
        <p:txBody>
          <a:bodyPr wrap="square" lIns="0" tIns="0" rIns="0" bIns="0" anchor="ctr">
            <a:spAutoFit/>
          </a:bodyPr>
          <a:lstStyle/>
          <a:p>
            <a:pPr algn="l">
              <a:lnSpc>
                <a:spcPct val="100000"/>
              </a:lnSpc>
            </a:pPr>
            <a:r>
              <a:rPr sz="1600" b="1" i="0">
                <a:solidFill>
                  <a:srgbClr val="122647"/>
                </a:solidFill>
                <a:latin typeface="Calibri"/>
              </a:rPr>
              <a:t>AI &amp; Data Science</a:t>
            </a:r>
          </a:p>
        </p:txBody>
      </p:sp>
      <p:sp>
        <p:nvSpPr>
          <p:cNvPr id="24" name="TextBox 23"/>
          <p:cNvSpPr txBox="1"/>
          <p:nvPr/>
        </p:nvSpPr>
        <p:spPr>
          <a:xfrm>
            <a:off x="5303520" y="4562856"/>
            <a:ext cx="6035040" cy="594360"/>
          </a:xfrm>
          <a:prstGeom prst="rect">
            <a:avLst/>
          </a:prstGeom>
          <a:noFill/>
        </p:spPr>
        <p:txBody>
          <a:bodyPr wrap="square" lIns="0" tIns="0" rIns="0" bIns="0" anchor="ctr">
            <a:spAutoFit/>
          </a:bodyPr>
          <a:lstStyle/>
          <a:p>
            <a:pPr algn="l">
              <a:lnSpc>
                <a:spcPct val="100000"/>
              </a:lnSpc>
            </a:pPr>
            <a:r>
              <a:rPr sz="1250" b="0" i="0">
                <a:solidFill>
                  <a:srgbClr val="4B5563"/>
                </a:solidFill>
                <a:latin typeface="Calibri"/>
              </a:rPr>
              <a:t>How intelligence is embedded across the platform</a:t>
            </a:r>
          </a:p>
        </p:txBody>
      </p:sp>
      <p:sp>
        <p:nvSpPr>
          <p:cNvPr id="25" name="Rounded Rectangle 24"/>
          <p:cNvSpPr/>
          <p:nvPr/>
        </p:nvSpPr>
        <p:spPr>
          <a:xfrm>
            <a:off x="640080" y="5367528"/>
            <a:ext cx="10927080" cy="768096"/>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0080" y="5422392"/>
            <a:ext cx="64008" cy="658368"/>
          </a:xfrm>
          <a:prstGeom prst="roundRect">
            <a:avLst>
              <a:gd name="adj" fmla="val 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5513832"/>
            <a:ext cx="822960" cy="502920"/>
          </a:xfrm>
          <a:prstGeom prst="rect">
            <a:avLst/>
          </a:prstGeom>
          <a:noFill/>
        </p:spPr>
        <p:txBody>
          <a:bodyPr wrap="square" lIns="0" tIns="0" rIns="0" bIns="0" anchor="t">
            <a:spAutoFit/>
          </a:bodyPr>
          <a:lstStyle/>
          <a:p>
            <a:pPr algn="l">
              <a:lnSpc>
                <a:spcPct val="100000"/>
              </a:lnSpc>
            </a:pPr>
            <a:r>
              <a:rPr sz="2200" b="1" i="0">
                <a:solidFill>
                  <a:srgbClr val="2E7D4F"/>
                </a:solidFill>
                <a:latin typeface="Calibri"/>
              </a:rPr>
              <a:t>05</a:t>
            </a:r>
          </a:p>
        </p:txBody>
      </p:sp>
      <p:sp>
        <p:nvSpPr>
          <p:cNvPr id="28" name="TextBox 27"/>
          <p:cNvSpPr txBox="1"/>
          <p:nvPr/>
        </p:nvSpPr>
        <p:spPr>
          <a:xfrm>
            <a:off x="1874519" y="5458968"/>
            <a:ext cx="3291840" cy="594360"/>
          </a:xfrm>
          <a:prstGeom prst="rect">
            <a:avLst/>
          </a:prstGeom>
          <a:noFill/>
        </p:spPr>
        <p:txBody>
          <a:bodyPr wrap="square" lIns="0" tIns="0" rIns="0" bIns="0" anchor="ctr">
            <a:spAutoFit/>
          </a:bodyPr>
          <a:lstStyle/>
          <a:p>
            <a:pPr algn="l">
              <a:lnSpc>
                <a:spcPct val="100000"/>
              </a:lnSpc>
            </a:pPr>
            <a:r>
              <a:rPr sz="1600" b="1" i="0">
                <a:solidFill>
                  <a:srgbClr val="122647"/>
                </a:solidFill>
                <a:latin typeface="Calibri"/>
              </a:rPr>
              <a:t>Significance &amp; Contributions</a:t>
            </a:r>
          </a:p>
        </p:txBody>
      </p:sp>
      <p:sp>
        <p:nvSpPr>
          <p:cNvPr id="29" name="TextBox 28"/>
          <p:cNvSpPr txBox="1"/>
          <p:nvPr/>
        </p:nvSpPr>
        <p:spPr>
          <a:xfrm>
            <a:off x="5303520" y="5458968"/>
            <a:ext cx="6035040" cy="594360"/>
          </a:xfrm>
          <a:prstGeom prst="rect">
            <a:avLst/>
          </a:prstGeom>
          <a:noFill/>
        </p:spPr>
        <p:txBody>
          <a:bodyPr wrap="square" lIns="0" tIns="0" rIns="0" bIns="0" anchor="ctr">
            <a:spAutoFit/>
          </a:bodyPr>
          <a:lstStyle/>
          <a:p>
            <a:pPr algn="l">
              <a:lnSpc>
                <a:spcPct val="100000"/>
              </a:lnSpc>
            </a:pPr>
            <a:r>
              <a:rPr sz="1250" b="0" i="0">
                <a:solidFill>
                  <a:srgbClr val="4B5563"/>
                </a:solidFill>
                <a:latin typeface="Calibri"/>
              </a:rPr>
              <a:t>Impact for typhoon-prone communities and academia</a:t>
            </a:r>
          </a:p>
        </p:txBody>
      </p:sp>
      <p:sp>
        <p:nvSpPr>
          <p:cNvPr id="30" name="TextBox 29"/>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02</a:t>
            </a:r>
          </a:p>
        </p:txBody>
      </p:sp>
      <p:sp>
        <p:nvSpPr>
          <p:cNvPr id="31" name="TextBox 30"/>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32" name="Rounded Rectangle 31"/>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8E1E3F"/>
                </a:solidFill>
                <a:latin typeface="Calibri"/>
              </a:rPr>
              <a:t>THE PROBLEM</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Disasters Sever the Networks We Depend On</a:t>
            </a:r>
          </a:p>
        </p:txBody>
      </p:sp>
      <p:sp>
        <p:nvSpPr>
          <p:cNvPr id="5" name="TextBox 4"/>
          <p:cNvSpPr txBox="1"/>
          <p:nvPr/>
        </p:nvSpPr>
        <p:spPr>
          <a:xfrm>
            <a:off x="640080" y="1417320"/>
            <a:ext cx="10515600" cy="640080"/>
          </a:xfrm>
          <a:prstGeom prst="rect">
            <a:avLst/>
          </a:prstGeom>
          <a:noFill/>
        </p:spPr>
        <p:txBody>
          <a:bodyPr wrap="square" lIns="0" tIns="0" rIns="0" bIns="0" anchor="t">
            <a:spAutoFit/>
          </a:bodyPr>
          <a:lstStyle/>
          <a:p>
            <a:pPr algn="l">
              <a:lnSpc>
                <a:spcPct val="125000"/>
              </a:lnSpc>
            </a:pPr>
            <a:r>
              <a:rPr sz="1400" b="0" i="0">
                <a:solidFill>
                  <a:srgbClr val="4B5563"/>
                </a:solidFill>
                <a:latin typeface="Calibri"/>
              </a:rPr>
              <a:t>The Philippines faces an average of 20 tropical cyclones a year — and the same storms that create</a:t>
            </a:r>
          </a:p>
          <a:p>
            <a:pPr algn="l">
              <a:lnSpc>
                <a:spcPct val="125000"/>
              </a:lnSpc>
            </a:pPr>
            <a:r>
              <a:rPr sz="1400" b="0" i="0">
                <a:solidFill>
                  <a:srgbClr val="4B5563"/>
                </a:solidFill>
                <a:latin typeface="Calibri"/>
              </a:rPr>
              <a:t>the emergency routinely knock out the cell towers and internet links responders rely on.</a:t>
            </a:r>
          </a:p>
        </p:txBody>
      </p:sp>
      <p:sp>
        <p:nvSpPr>
          <p:cNvPr id="6" name="Rounded Rectangle 5"/>
          <p:cNvSpPr/>
          <p:nvPr/>
        </p:nvSpPr>
        <p:spPr>
          <a:xfrm>
            <a:off x="640080" y="2331720"/>
            <a:ext cx="3520440" cy="338328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2606040"/>
            <a:ext cx="502920" cy="64008"/>
          </a:xfrm>
          <a:prstGeom prst="roundRect">
            <a:avLst>
              <a:gd name="adj" fmla="val 0"/>
            </a:avLst>
          </a:prstGeom>
          <a:solidFill>
            <a:srgbClr val="8E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788920"/>
            <a:ext cx="2971800" cy="731520"/>
          </a:xfrm>
          <a:prstGeom prst="rect">
            <a:avLst/>
          </a:prstGeom>
          <a:noFill/>
        </p:spPr>
        <p:txBody>
          <a:bodyPr wrap="square" lIns="0" tIns="0" rIns="0" bIns="0" anchor="t">
            <a:spAutoFit/>
          </a:bodyPr>
          <a:lstStyle/>
          <a:p>
            <a:pPr algn="l">
              <a:lnSpc>
                <a:spcPct val="110000"/>
              </a:lnSpc>
            </a:pPr>
            <a:r>
              <a:rPr sz="1650" b="1" i="0">
                <a:solidFill>
                  <a:srgbClr val="122647"/>
                </a:solidFill>
                <a:latin typeface="Calibri"/>
              </a:rPr>
              <a:t>Connectivity Collapse</a:t>
            </a:r>
          </a:p>
        </p:txBody>
      </p:sp>
      <p:sp>
        <p:nvSpPr>
          <p:cNvPr id="9" name="TextBox 8"/>
          <p:cNvSpPr txBox="1"/>
          <p:nvPr/>
        </p:nvSpPr>
        <p:spPr>
          <a:xfrm>
            <a:off x="914400" y="3520440"/>
            <a:ext cx="2971800" cy="2011680"/>
          </a:xfrm>
          <a:prstGeom prst="rect">
            <a:avLst/>
          </a:prstGeom>
          <a:noFill/>
        </p:spPr>
        <p:txBody>
          <a:bodyPr wrap="square" lIns="0" tIns="0" rIns="0" bIns="0" anchor="t">
            <a:spAutoFit/>
          </a:bodyPr>
          <a:lstStyle/>
          <a:p>
            <a:pPr algn="l">
              <a:lnSpc>
                <a:spcPct val="130000"/>
              </a:lnSpc>
            </a:pPr>
            <a:r>
              <a:rPr sz="1200" b="0" i="0">
                <a:solidFill>
                  <a:srgbClr val="4B5563"/>
                </a:solidFill>
                <a:latin typeface="Calibri"/>
              </a:rPr>
              <a:t>Cell sites and fiber links fail during the most severe typhoons, isolating barangays exactly when coordination matters most.</a:t>
            </a:r>
          </a:p>
        </p:txBody>
      </p:sp>
      <p:sp>
        <p:nvSpPr>
          <p:cNvPr id="10" name="Rounded Rectangle 9"/>
          <p:cNvSpPr/>
          <p:nvPr/>
        </p:nvSpPr>
        <p:spPr>
          <a:xfrm>
            <a:off x="4343400" y="2331720"/>
            <a:ext cx="3520440" cy="338328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617720" y="2606040"/>
            <a:ext cx="502920" cy="64008"/>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2788920"/>
            <a:ext cx="2971800" cy="731520"/>
          </a:xfrm>
          <a:prstGeom prst="rect">
            <a:avLst/>
          </a:prstGeom>
          <a:noFill/>
        </p:spPr>
        <p:txBody>
          <a:bodyPr wrap="square" lIns="0" tIns="0" rIns="0" bIns="0" anchor="t">
            <a:spAutoFit/>
          </a:bodyPr>
          <a:lstStyle/>
          <a:p>
            <a:pPr algn="l">
              <a:lnSpc>
                <a:spcPct val="110000"/>
              </a:lnSpc>
            </a:pPr>
            <a:r>
              <a:rPr sz="1650" b="1" i="0">
                <a:solidFill>
                  <a:srgbClr val="122647"/>
                </a:solidFill>
                <a:latin typeface="Calibri"/>
              </a:rPr>
              <a:t>Manual, Delayed Reporting</a:t>
            </a:r>
          </a:p>
        </p:txBody>
      </p:sp>
      <p:sp>
        <p:nvSpPr>
          <p:cNvPr id="13" name="TextBox 12"/>
          <p:cNvSpPr txBox="1"/>
          <p:nvPr/>
        </p:nvSpPr>
        <p:spPr>
          <a:xfrm>
            <a:off x="4617720" y="3520440"/>
            <a:ext cx="2971800" cy="2011680"/>
          </a:xfrm>
          <a:prstGeom prst="rect">
            <a:avLst/>
          </a:prstGeom>
          <a:noFill/>
        </p:spPr>
        <p:txBody>
          <a:bodyPr wrap="square" lIns="0" tIns="0" rIns="0" bIns="0" anchor="t">
            <a:spAutoFit/>
          </a:bodyPr>
          <a:lstStyle/>
          <a:p>
            <a:pPr algn="l">
              <a:lnSpc>
                <a:spcPct val="130000"/>
              </a:lnSpc>
            </a:pPr>
            <a:r>
              <a:rPr sz="1200" b="0" i="0">
                <a:solidFill>
                  <a:srgbClr val="4B5563"/>
                </a:solidFill>
                <a:latin typeface="Calibri"/>
              </a:rPr>
              <a:t>Damage and casualty assessments still rely on radio relays, paper forms, and word-of-mouth — slow and error-prone.</a:t>
            </a:r>
          </a:p>
        </p:txBody>
      </p:sp>
      <p:sp>
        <p:nvSpPr>
          <p:cNvPr id="14" name="Rounded Rectangle 13"/>
          <p:cNvSpPr/>
          <p:nvPr/>
        </p:nvSpPr>
        <p:spPr>
          <a:xfrm>
            <a:off x="8046720" y="2331720"/>
            <a:ext cx="3520440" cy="338328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321040" y="2606040"/>
            <a:ext cx="502920" cy="64008"/>
          </a:xfrm>
          <a:prstGeom prst="roundRect">
            <a:avLst>
              <a:gd name="adj" fmla="val 0"/>
            </a:avLst>
          </a:prstGeom>
          <a:solidFill>
            <a:srgbClr val="3E6B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2788920"/>
            <a:ext cx="2971800" cy="731520"/>
          </a:xfrm>
          <a:prstGeom prst="rect">
            <a:avLst/>
          </a:prstGeom>
          <a:noFill/>
        </p:spPr>
        <p:txBody>
          <a:bodyPr wrap="square" lIns="0" tIns="0" rIns="0" bIns="0" anchor="t">
            <a:spAutoFit/>
          </a:bodyPr>
          <a:lstStyle/>
          <a:p>
            <a:pPr algn="l">
              <a:lnSpc>
                <a:spcPct val="110000"/>
              </a:lnSpc>
            </a:pPr>
            <a:r>
              <a:rPr sz="1650" b="1" i="0">
                <a:solidFill>
                  <a:srgbClr val="122647"/>
                </a:solidFill>
                <a:latin typeface="Calibri"/>
              </a:rPr>
              <a:t>Reactive, Not Predictive</a:t>
            </a:r>
          </a:p>
        </p:txBody>
      </p:sp>
      <p:sp>
        <p:nvSpPr>
          <p:cNvPr id="17" name="TextBox 16"/>
          <p:cNvSpPr txBox="1"/>
          <p:nvPr/>
        </p:nvSpPr>
        <p:spPr>
          <a:xfrm>
            <a:off x="8321040" y="3520440"/>
            <a:ext cx="2971800" cy="2011680"/>
          </a:xfrm>
          <a:prstGeom prst="rect">
            <a:avLst/>
          </a:prstGeom>
          <a:noFill/>
        </p:spPr>
        <p:txBody>
          <a:bodyPr wrap="square" lIns="0" tIns="0" rIns="0" bIns="0" anchor="t">
            <a:spAutoFit/>
          </a:bodyPr>
          <a:lstStyle/>
          <a:p>
            <a:pPr algn="l">
              <a:lnSpc>
                <a:spcPct val="130000"/>
              </a:lnSpc>
            </a:pPr>
            <a:r>
              <a:rPr sz="1200" b="0" i="0">
                <a:solidFill>
                  <a:srgbClr val="4B5563"/>
                </a:solidFill>
                <a:latin typeface="Calibri"/>
              </a:rPr>
              <a:t>Existing systems log what already happened; few platforms triage or prioritize rescues using real-time AI analysis.</a:t>
            </a:r>
          </a:p>
        </p:txBody>
      </p:sp>
      <p:sp>
        <p:nvSpPr>
          <p:cNvPr id="18" name="TextBox 17"/>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03</a:t>
            </a:r>
          </a:p>
        </p:txBody>
      </p:sp>
      <p:sp>
        <p:nvSpPr>
          <p:cNvPr id="19" name="TextBox 18"/>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20" name="Rounded Rectangle 19"/>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B78A1E"/>
                </a:solidFill>
                <a:latin typeface="Calibri"/>
              </a:rPr>
              <a:t>GAP ANALYSIS</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Where Existing Platforms Fall Short</a:t>
            </a:r>
          </a:p>
        </p:txBody>
      </p:sp>
      <p:sp>
        <p:nvSpPr>
          <p:cNvPr id="5" name="Rounded Rectangle 4"/>
          <p:cNvSpPr/>
          <p:nvPr/>
        </p:nvSpPr>
        <p:spPr>
          <a:xfrm>
            <a:off x="640080" y="1783080"/>
            <a:ext cx="10927080" cy="448056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14400" y="2084832"/>
            <a:ext cx="91440" cy="548640"/>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88720" y="2011680"/>
            <a:ext cx="3017520" cy="777240"/>
          </a:xfrm>
          <a:prstGeom prst="rect">
            <a:avLst/>
          </a:prstGeom>
          <a:noFill/>
        </p:spPr>
        <p:txBody>
          <a:bodyPr wrap="square" lIns="0" tIns="0" rIns="0" bIns="0" anchor="ctr">
            <a:spAutoFit/>
          </a:bodyPr>
          <a:lstStyle/>
          <a:p>
            <a:pPr algn="l">
              <a:lnSpc>
                <a:spcPct val="110000"/>
              </a:lnSpc>
            </a:pPr>
            <a:r>
              <a:rPr sz="1450" b="1" i="0">
                <a:solidFill>
                  <a:srgbClr val="122647"/>
                </a:solidFill>
                <a:latin typeface="Calibri"/>
              </a:rPr>
              <a:t>Internet dependency</a:t>
            </a:r>
          </a:p>
        </p:txBody>
      </p:sp>
      <p:sp>
        <p:nvSpPr>
          <p:cNvPr id="8" name="TextBox 7"/>
          <p:cNvSpPr txBox="1"/>
          <p:nvPr/>
        </p:nvSpPr>
        <p:spPr>
          <a:xfrm>
            <a:off x="4389120" y="2011680"/>
            <a:ext cx="6949440" cy="777240"/>
          </a:xfrm>
          <a:prstGeom prst="rect">
            <a:avLst/>
          </a:prstGeom>
          <a:noFill/>
        </p:spPr>
        <p:txBody>
          <a:bodyPr wrap="square" lIns="0" tIns="0" rIns="0" bIns="0" anchor="ctr">
            <a:spAutoFit/>
          </a:bodyPr>
          <a:lstStyle/>
          <a:p>
            <a:pPr algn="l">
              <a:lnSpc>
                <a:spcPct val="120000"/>
              </a:lnSpc>
            </a:pPr>
            <a:r>
              <a:rPr sz="1250" b="0" i="0">
                <a:solidFill>
                  <a:srgbClr val="4B5563"/>
                </a:solidFill>
                <a:latin typeface="Calibri"/>
              </a:rPr>
              <a:t>Most disaster-reporting apps require continuous connectivity to function at all.</a:t>
            </a:r>
          </a:p>
        </p:txBody>
      </p:sp>
      <p:sp>
        <p:nvSpPr>
          <p:cNvPr id="9" name="Rounded Rectangle 8"/>
          <p:cNvSpPr/>
          <p:nvPr/>
        </p:nvSpPr>
        <p:spPr>
          <a:xfrm>
            <a:off x="914400" y="2907792"/>
            <a:ext cx="91440" cy="548640"/>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2834640"/>
            <a:ext cx="3017520" cy="777240"/>
          </a:xfrm>
          <a:prstGeom prst="rect">
            <a:avLst/>
          </a:prstGeom>
          <a:noFill/>
        </p:spPr>
        <p:txBody>
          <a:bodyPr wrap="square" lIns="0" tIns="0" rIns="0" bIns="0" anchor="ctr">
            <a:spAutoFit/>
          </a:bodyPr>
          <a:lstStyle/>
          <a:p>
            <a:pPr algn="l">
              <a:lnSpc>
                <a:spcPct val="110000"/>
              </a:lnSpc>
            </a:pPr>
            <a:r>
              <a:rPr sz="1450" b="1" i="0">
                <a:solidFill>
                  <a:srgbClr val="122647"/>
                </a:solidFill>
                <a:latin typeface="Calibri"/>
              </a:rPr>
              <a:t>No peer-to-peer fallback</a:t>
            </a:r>
          </a:p>
        </p:txBody>
      </p:sp>
      <p:sp>
        <p:nvSpPr>
          <p:cNvPr id="11" name="TextBox 10"/>
          <p:cNvSpPr txBox="1"/>
          <p:nvPr/>
        </p:nvSpPr>
        <p:spPr>
          <a:xfrm>
            <a:off x="4389120" y="2834640"/>
            <a:ext cx="6949440" cy="777240"/>
          </a:xfrm>
          <a:prstGeom prst="rect">
            <a:avLst/>
          </a:prstGeom>
          <a:noFill/>
        </p:spPr>
        <p:txBody>
          <a:bodyPr wrap="square" lIns="0" tIns="0" rIns="0" bIns="0" anchor="ctr">
            <a:spAutoFit/>
          </a:bodyPr>
          <a:lstStyle/>
          <a:p>
            <a:pPr algn="l">
              <a:lnSpc>
                <a:spcPct val="120000"/>
              </a:lnSpc>
            </a:pPr>
            <a:r>
              <a:rPr sz="1250" b="0" i="0">
                <a:solidFill>
                  <a:srgbClr val="4B5563"/>
                </a:solidFill>
                <a:latin typeface="Calibri"/>
              </a:rPr>
              <a:t>When towers go down, devices in the same barangay cannot relay information to each other.</a:t>
            </a:r>
          </a:p>
        </p:txBody>
      </p:sp>
      <p:sp>
        <p:nvSpPr>
          <p:cNvPr id="12" name="Rounded Rectangle 11"/>
          <p:cNvSpPr/>
          <p:nvPr/>
        </p:nvSpPr>
        <p:spPr>
          <a:xfrm>
            <a:off x="914400" y="3730752"/>
            <a:ext cx="91440" cy="548640"/>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3657600"/>
            <a:ext cx="3017520" cy="777240"/>
          </a:xfrm>
          <a:prstGeom prst="rect">
            <a:avLst/>
          </a:prstGeom>
          <a:noFill/>
        </p:spPr>
        <p:txBody>
          <a:bodyPr wrap="square" lIns="0" tIns="0" rIns="0" bIns="0" anchor="ctr">
            <a:spAutoFit/>
          </a:bodyPr>
          <a:lstStyle/>
          <a:p>
            <a:pPr algn="l">
              <a:lnSpc>
                <a:spcPct val="110000"/>
              </a:lnSpc>
            </a:pPr>
            <a:r>
              <a:rPr sz="1450" b="1" i="0">
                <a:solidFill>
                  <a:srgbClr val="122647"/>
                </a:solidFill>
                <a:latin typeface="Calibri"/>
              </a:rPr>
              <a:t>Limited intelligence</a:t>
            </a:r>
          </a:p>
        </p:txBody>
      </p:sp>
      <p:sp>
        <p:nvSpPr>
          <p:cNvPr id="14" name="TextBox 13"/>
          <p:cNvSpPr txBox="1"/>
          <p:nvPr/>
        </p:nvSpPr>
        <p:spPr>
          <a:xfrm>
            <a:off x="4389120" y="3657600"/>
            <a:ext cx="6949440" cy="777240"/>
          </a:xfrm>
          <a:prstGeom prst="rect">
            <a:avLst/>
          </a:prstGeom>
          <a:noFill/>
        </p:spPr>
        <p:txBody>
          <a:bodyPr wrap="square" lIns="0" tIns="0" rIns="0" bIns="0" anchor="ctr">
            <a:spAutoFit/>
          </a:bodyPr>
          <a:lstStyle/>
          <a:p>
            <a:pPr algn="l">
              <a:lnSpc>
                <a:spcPct val="120000"/>
              </a:lnSpc>
            </a:pPr>
            <a:r>
              <a:rPr sz="1250" b="0" i="0">
                <a:solidFill>
                  <a:srgbClr val="4B5563"/>
                </a:solidFill>
                <a:latin typeface="Calibri"/>
              </a:rPr>
              <a:t>Reports are stored, not analyzed — there is little to no automated triage or resource matching.</a:t>
            </a:r>
          </a:p>
        </p:txBody>
      </p:sp>
      <p:sp>
        <p:nvSpPr>
          <p:cNvPr id="15" name="Rounded Rectangle 14"/>
          <p:cNvSpPr/>
          <p:nvPr/>
        </p:nvSpPr>
        <p:spPr>
          <a:xfrm>
            <a:off x="914400" y="4553712"/>
            <a:ext cx="91440" cy="548640"/>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88720" y="4480560"/>
            <a:ext cx="3017520" cy="777240"/>
          </a:xfrm>
          <a:prstGeom prst="rect">
            <a:avLst/>
          </a:prstGeom>
          <a:noFill/>
        </p:spPr>
        <p:txBody>
          <a:bodyPr wrap="square" lIns="0" tIns="0" rIns="0" bIns="0" anchor="ctr">
            <a:spAutoFit/>
          </a:bodyPr>
          <a:lstStyle/>
          <a:p>
            <a:pPr algn="l">
              <a:lnSpc>
                <a:spcPct val="110000"/>
              </a:lnSpc>
            </a:pPr>
            <a:r>
              <a:rPr sz="1450" b="1" i="0">
                <a:solidFill>
                  <a:srgbClr val="122647"/>
                </a:solidFill>
                <a:latin typeface="Calibri"/>
              </a:rPr>
              <a:t>Fragmented user roles</a:t>
            </a:r>
          </a:p>
        </p:txBody>
      </p:sp>
      <p:sp>
        <p:nvSpPr>
          <p:cNvPr id="17" name="TextBox 16"/>
          <p:cNvSpPr txBox="1"/>
          <p:nvPr/>
        </p:nvSpPr>
        <p:spPr>
          <a:xfrm>
            <a:off x="4389120" y="4480560"/>
            <a:ext cx="6949440" cy="777240"/>
          </a:xfrm>
          <a:prstGeom prst="rect">
            <a:avLst/>
          </a:prstGeom>
          <a:noFill/>
        </p:spPr>
        <p:txBody>
          <a:bodyPr wrap="square" lIns="0" tIns="0" rIns="0" bIns="0" anchor="ctr">
            <a:spAutoFit/>
          </a:bodyPr>
          <a:lstStyle/>
          <a:p>
            <a:pPr algn="l">
              <a:lnSpc>
                <a:spcPct val="120000"/>
              </a:lnSpc>
            </a:pPr>
            <a:r>
              <a:rPr sz="1250" b="0" i="0">
                <a:solidFill>
                  <a:srgbClr val="4B5563"/>
                </a:solidFill>
                <a:latin typeface="Calibri"/>
              </a:rPr>
              <a:t>Citizens, responders, and LGU/DRRM offices typically use disconnected tools with no shared real-time picture.</a:t>
            </a:r>
          </a:p>
        </p:txBody>
      </p:sp>
      <p:sp>
        <p:nvSpPr>
          <p:cNvPr id="18" name="Rounded Rectangle 17"/>
          <p:cNvSpPr/>
          <p:nvPr/>
        </p:nvSpPr>
        <p:spPr>
          <a:xfrm>
            <a:off x="914400" y="5376672"/>
            <a:ext cx="91440" cy="548640"/>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88720" y="5303520"/>
            <a:ext cx="3017520" cy="777240"/>
          </a:xfrm>
          <a:prstGeom prst="rect">
            <a:avLst/>
          </a:prstGeom>
          <a:noFill/>
        </p:spPr>
        <p:txBody>
          <a:bodyPr wrap="square" lIns="0" tIns="0" rIns="0" bIns="0" anchor="ctr">
            <a:spAutoFit/>
          </a:bodyPr>
          <a:lstStyle/>
          <a:p>
            <a:pPr algn="l">
              <a:lnSpc>
                <a:spcPct val="110000"/>
              </a:lnSpc>
            </a:pPr>
            <a:r>
              <a:rPr sz="1450" b="1" i="0">
                <a:solidFill>
                  <a:srgbClr val="122647"/>
                </a:solidFill>
                <a:latin typeface="Calibri"/>
              </a:rPr>
              <a:t>Centralized single points of failure</a:t>
            </a:r>
          </a:p>
        </p:txBody>
      </p:sp>
      <p:sp>
        <p:nvSpPr>
          <p:cNvPr id="20" name="TextBox 19"/>
          <p:cNvSpPr txBox="1"/>
          <p:nvPr/>
        </p:nvSpPr>
        <p:spPr>
          <a:xfrm>
            <a:off x="4389120" y="5303520"/>
            <a:ext cx="6949440" cy="777240"/>
          </a:xfrm>
          <a:prstGeom prst="rect">
            <a:avLst/>
          </a:prstGeom>
          <a:noFill/>
        </p:spPr>
        <p:txBody>
          <a:bodyPr wrap="square" lIns="0" tIns="0" rIns="0" bIns="0" anchor="ctr">
            <a:spAutoFit/>
          </a:bodyPr>
          <a:lstStyle/>
          <a:p>
            <a:pPr algn="l">
              <a:lnSpc>
                <a:spcPct val="120000"/>
              </a:lnSpc>
            </a:pPr>
            <a:r>
              <a:rPr sz="1250" b="0" i="0">
                <a:solidFill>
                  <a:srgbClr val="4B5563"/>
                </a:solidFill>
                <a:latin typeface="Calibri"/>
              </a:rPr>
              <a:t>Cloud-only architectures collapse entirely once the data center link is cut.</a:t>
            </a:r>
          </a:p>
        </p:txBody>
      </p:sp>
      <p:sp>
        <p:nvSpPr>
          <p:cNvPr id="21" name="TextBox 20"/>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04</a:t>
            </a:r>
          </a:p>
        </p:txBody>
      </p:sp>
      <p:sp>
        <p:nvSpPr>
          <p:cNvPr id="22" name="TextBox 21"/>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23" name="Rounded Rectangle 22"/>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2E7D4F"/>
                </a:solidFill>
                <a:latin typeface="Calibri"/>
              </a:rPr>
              <a:t>THE SOLUTION</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600" b="1" i="0">
                <a:solidFill>
                  <a:srgbClr val="122647"/>
                </a:solidFill>
                <a:latin typeface="Calibri"/>
              </a:rPr>
              <a:t>Introducing SurvAIve PH</a:t>
            </a:r>
          </a:p>
        </p:txBody>
      </p:sp>
      <p:sp>
        <p:nvSpPr>
          <p:cNvPr id="5" name="TextBox 4"/>
          <p:cNvSpPr txBox="1"/>
          <p:nvPr/>
        </p:nvSpPr>
        <p:spPr>
          <a:xfrm>
            <a:off x="640080" y="1508760"/>
            <a:ext cx="10424160" cy="914400"/>
          </a:xfrm>
          <a:prstGeom prst="rect">
            <a:avLst/>
          </a:prstGeom>
          <a:noFill/>
        </p:spPr>
        <p:txBody>
          <a:bodyPr wrap="square" lIns="0" tIns="0" rIns="0" bIns="0" anchor="t">
            <a:spAutoFit/>
          </a:bodyPr>
          <a:lstStyle/>
          <a:p>
            <a:pPr algn="l">
              <a:lnSpc>
                <a:spcPct val="130000"/>
              </a:lnSpc>
            </a:pPr>
            <a:r>
              <a:rPr sz="1550" b="0" i="0">
                <a:solidFill>
                  <a:srgbClr val="4B5563"/>
                </a:solidFill>
                <a:latin typeface="Calibri"/>
              </a:rPr>
              <a:t>An AI-enabled, offline-capable disaster management platform that keeps communities connected</a:t>
            </a:r>
          </a:p>
          <a:p>
            <a:pPr algn="l">
              <a:lnSpc>
                <a:spcPct val="130000"/>
              </a:lnSpc>
            </a:pPr>
            <a:r>
              <a:rPr sz="1550" b="0" i="0">
                <a:solidFill>
                  <a:srgbClr val="4B5563"/>
                </a:solidFill>
                <a:latin typeface="Calibri"/>
              </a:rPr>
              <a:t>and informed through peer-to-peer mesh networking — even when cell towers and the internet are down.</a:t>
            </a:r>
          </a:p>
        </p:txBody>
      </p:sp>
      <p:sp>
        <p:nvSpPr>
          <p:cNvPr id="6" name="Rounded Rectangle 5"/>
          <p:cNvSpPr/>
          <p:nvPr/>
        </p:nvSpPr>
        <p:spPr>
          <a:xfrm>
            <a:off x="640080" y="2697480"/>
            <a:ext cx="2606040" cy="306324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2697480"/>
            <a:ext cx="260604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926080"/>
            <a:ext cx="2148840" cy="594360"/>
          </a:xfrm>
          <a:prstGeom prst="rect">
            <a:avLst/>
          </a:prstGeom>
          <a:noFill/>
        </p:spPr>
        <p:txBody>
          <a:bodyPr wrap="square" lIns="0" tIns="0" rIns="0" bIns="0" anchor="t">
            <a:spAutoFit/>
          </a:bodyPr>
          <a:lstStyle/>
          <a:p>
            <a:pPr algn="l">
              <a:lnSpc>
                <a:spcPct val="100000"/>
              </a:lnSpc>
            </a:pPr>
            <a:r>
              <a:rPr sz="1600" b="1" i="0">
                <a:solidFill>
                  <a:srgbClr val="1B3A6B"/>
                </a:solidFill>
                <a:latin typeface="Calibri"/>
              </a:rPr>
              <a:t>Offline-First</a:t>
            </a:r>
          </a:p>
        </p:txBody>
      </p:sp>
      <p:sp>
        <p:nvSpPr>
          <p:cNvPr id="9" name="TextBox 8"/>
          <p:cNvSpPr txBox="1"/>
          <p:nvPr/>
        </p:nvSpPr>
        <p:spPr>
          <a:xfrm>
            <a:off x="868680" y="3520440"/>
            <a:ext cx="2148840" cy="2103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Works fully on-device; syncs automatically the moment connectivity returns.</a:t>
            </a:r>
          </a:p>
        </p:txBody>
      </p:sp>
      <p:sp>
        <p:nvSpPr>
          <p:cNvPr id="10" name="Rounded Rectangle 9"/>
          <p:cNvSpPr/>
          <p:nvPr/>
        </p:nvSpPr>
        <p:spPr>
          <a:xfrm>
            <a:off x="3410712" y="2697480"/>
            <a:ext cx="2606040" cy="306324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410712" y="2697480"/>
            <a:ext cx="2606040" cy="64008"/>
          </a:xfrm>
          <a:prstGeom prst="roundRect">
            <a:avLst>
              <a:gd name="adj" fmla="val 0"/>
            </a:avLst>
          </a:prstGeom>
          <a:solidFill>
            <a:srgbClr val="8E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39312" y="2926080"/>
            <a:ext cx="2148840" cy="594360"/>
          </a:xfrm>
          <a:prstGeom prst="rect">
            <a:avLst/>
          </a:prstGeom>
          <a:noFill/>
        </p:spPr>
        <p:txBody>
          <a:bodyPr wrap="square" lIns="0" tIns="0" rIns="0" bIns="0" anchor="t">
            <a:spAutoFit/>
          </a:bodyPr>
          <a:lstStyle/>
          <a:p>
            <a:pPr algn="l">
              <a:lnSpc>
                <a:spcPct val="100000"/>
              </a:lnSpc>
            </a:pPr>
            <a:r>
              <a:rPr sz="1600" b="1" i="0">
                <a:solidFill>
                  <a:srgbClr val="8E1E3F"/>
                </a:solidFill>
                <a:latin typeface="Calibri"/>
              </a:rPr>
              <a:t>Mesh-Networked</a:t>
            </a:r>
          </a:p>
        </p:txBody>
      </p:sp>
      <p:sp>
        <p:nvSpPr>
          <p:cNvPr id="13" name="TextBox 12"/>
          <p:cNvSpPr txBox="1"/>
          <p:nvPr/>
        </p:nvSpPr>
        <p:spPr>
          <a:xfrm>
            <a:off x="3639312" y="3520440"/>
            <a:ext cx="2148840" cy="2103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Devices relay SOS reports and alerts peer-to-peer via BLE / Wi-Fi Direct / WebRTC.</a:t>
            </a:r>
          </a:p>
        </p:txBody>
      </p:sp>
      <p:sp>
        <p:nvSpPr>
          <p:cNvPr id="14" name="Rounded Rectangle 13"/>
          <p:cNvSpPr/>
          <p:nvPr/>
        </p:nvSpPr>
        <p:spPr>
          <a:xfrm>
            <a:off x="6181344" y="2697480"/>
            <a:ext cx="2606040" cy="306324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81344" y="2697480"/>
            <a:ext cx="2606040" cy="64008"/>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9944" y="2926080"/>
            <a:ext cx="2148840" cy="594360"/>
          </a:xfrm>
          <a:prstGeom prst="rect">
            <a:avLst/>
          </a:prstGeom>
          <a:noFill/>
        </p:spPr>
        <p:txBody>
          <a:bodyPr wrap="square" lIns="0" tIns="0" rIns="0" bIns="0" anchor="t">
            <a:spAutoFit/>
          </a:bodyPr>
          <a:lstStyle/>
          <a:p>
            <a:pPr algn="l">
              <a:lnSpc>
                <a:spcPct val="100000"/>
              </a:lnSpc>
            </a:pPr>
            <a:r>
              <a:rPr sz="1600" b="1" i="0">
                <a:solidFill>
                  <a:srgbClr val="B78A1E"/>
                </a:solidFill>
                <a:latin typeface="Calibri"/>
              </a:rPr>
              <a:t>AI-Driven</a:t>
            </a:r>
          </a:p>
        </p:txBody>
      </p:sp>
      <p:sp>
        <p:nvSpPr>
          <p:cNvPr id="17" name="TextBox 16"/>
          <p:cNvSpPr txBox="1"/>
          <p:nvPr/>
        </p:nvSpPr>
        <p:spPr>
          <a:xfrm>
            <a:off x="6409944" y="3520440"/>
            <a:ext cx="2148840" cy="2103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Machine learning triages, prioritizes, and allocates response resources in real time.</a:t>
            </a:r>
          </a:p>
        </p:txBody>
      </p:sp>
      <p:sp>
        <p:nvSpPr>
          <p:cNvPr id="18" name="Rounded Rectangle 17"/>
          <p:cNvSpPr/>
          <p:nvPr/>
        </p:nvSpPr>
        <p:spPr>
          <a:xfrm>
            <a:off x="8951976" y="2697480"/>
            <a:ext cx="2606040" cy="306324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951976" y="2697480"/>
            <a:ext cx="2606040" cy="64008"/>
          </a:xfrm>
          <a:prstGeom prst="roundRect">
            <a:avLst>
              <a:gd name="adj" fmla="val 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80576" y="2926080"/>
            <a:ext cx="2148840" cy="594360"/>
          </a:xfrm>
          <a:prstGeom prst="rect">
            <a:avLst/>
          </a:prstGeom>
          <a:noFill/>
        </p:spPr>
        <p:txBody>
          <a:bodyPr wrap="square" lIns="0" tIns="0" rIns="0" bIns="0" anchor="t">
            <a:spAutoFit/>
          </a:bodyPr>
          <a:lstStyle/>
          <a:p>
            <a:pPr algn="l">
              <a:lnSpc>
                <a:spcPct val="100000"/>
              </a:lnSpc>
            </a:pPr>
            <a:r>
              <a:rPr sz="1600" b="1" i="0">
                <a:solidFill>
                  <a:srgbClr val="2E7D4F"/>
                </a:solidFill>
                <a:latin typeface="Calibri"/>
              </a:rPr>
              <a:t>Role-Based</a:t>
            </a:r>
          </a:p>
        </p:txBody>
      </p:sp>
      <p:sp>
        <p:nvSpPr>
          <p:cNvPr id="21" name="TextBox 20"/>
          <p:cNvSpPr txBox="1"/>
          <p:nvPr/>
        </p:nvSpPr>
        <p:spPr>
          <a:xfrm>
            <a:off x="9180576" y="3520440"/>
            <a:ext cx="2148840" cy="2103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Purpose-built interfaces for Citizens, Field Responders, LGU/DRRM Admins, and DOST Super Admins.</a:t>
            </a:r>
          </a:p>
        </p:txBody>
      </p:sp>
      <p:sp>
        <p:nvSpPr>
          <p:cNvPr id="22" name="TextBox 21"/>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05</a:t>
            </a:r>
          </a:p>
        </p:txBody>
      </p:sp>
      <p:sp>
        <p:nvSpPr>
          <p:cNvPr id="23" name="TextBox 22"/>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24" name="Rounded Rectangle 23"/>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1B3A6B"/>
                </a:solidFill>
                <a:latin typeface="Calibri"/>
              </a:rPr>
              <a:t>WHO IT SERVES</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Four Roles, One Shared Picture</a:t>
            </a:r>
          </a:p>
        </p:txBody>
      </p:sp>
      <p:sp>
        <p:nvSpPr>
          <p:cNvPr id="5" name="Rounded Rectangle 4"/>
          <p:cNvSpPr/>
          <p:nvPr/>
        </p:nvSpPr>
        <p:spPr>
          <a:xfrm>
            <a:off x="640080" y="1828800"/>
            <a:ext cx="2606040" cy="356616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828800"/>
            <a:ext cx="260604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2103120"/>
            <a:ext cx="640080" cy="640080"/>
          </a:xfrm>
          <a:prstGeom prst="roundRect">
            <a:avLst>
              <a:gd name="adj" fmla="val 50000"/>
            </a:avLst>
          </a:prstGeom>
          <a:solidFill>
            <a:srgbClr val="FFFFFF"/>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103120"/>
            <a:ext cx="640080" cy="640080"/>
          </a:xfrm>
          <a:prstGeom prst="rect">
            <a:avLst/>
          </a:prstGeom>
          <a:noFill/>
        </p:spPr>
        <p:txBody>
          <a:bodyPr wrap="square" lIns="0" tIns="0" rIns="0" bIns="0" anchor="ctr">
            <a:spAutoFit/>
          </a:bodyPr>
          <a:lstStyle/>
          <a:p>
            <a:pPr algn="ctr">
              <a:lnSpc>
                <a:spcPct val="100000"/>
              </a:lnSpc>
            </a:pPr>
            <a:r>
              <a:rPr sz="2200" b="1" i="0">
                <a:solidFill>
                  <a:srgbClr val="1B3A6B"/>
                </a:solidFill>
                <a:latin typeface="Calibri"/>
              </a:rPr>
              <a:t>1</a:t>
            </a:r>
          </a:p>
        </p:txBody>
      </p:sp>
      <p:sp>
        <p:nvSpPr>
          <p:cNvPr id="9" name="TextBox 8"/>
          <p:cNvSpPr txBox="1"/>
          <p:nvPr/>
        </p:nvSpPr>
        <p:spPr>
          <a:xfrm>
            <a:off x="868680" y="2926080"/>
            <a:ext cx="2148840" cy="731520"/>
          </a:xfrm>
          <a:prstGeom prst="rect">
            <a:avLst/>
          </a:prstGeom>
          <a:noFill/>
        </p:spPr>
        <p:txBody>
          <a:bodyPr wrap="square" lIns="0" tIns="0" rIns="0" bIns="0" anchor="t">
            <a:spAutoFit/>
          </a:bodyPr>
          <a:lstStyle/>
          <a:p>
            <a:pPr algn="l">
              <a:lnSpc>
                <a:spcPct val="110000"/>
              </a:lnSpc>
            </a:pPr>
            <a:r>
              <a:rPr sz="1550" b="1" i="0">
                <a:solidFill>
                  <a:srgbClr val="122647"/>
                </a:solidFill>
                <a:latin typeface="Calibri"/>
              </a:rPr>
              <a:t>Victim / Citizen</a:t>
            </a:r>
          </a:p>
        </p:txBody>
      </p:sp>
      <p:sp>
        <p:nvSpPr>
          <p:cNvPr id="10" name="TextBox 9"/>
          <p:cNvSpPr txBox="1"/>
          <p:nvPr/>
        </p:nvSpPr>
        <p:spPr>
          <a:xfrm>
            <a:off x="868680" y="3657600"/>
            <a:ext cx="2148840" cy="16459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Reports SOS, requests help, and receives alerts — fully usable offline.</a:t>
            </a:r>
          </a:p>
        </p:txBody>
      </p:sp>
      <p:sp>
        <p:nvSpPr>
          <p:cNvPr id="11" name="Rounded Rectangle 10"/>
          <p:cNvSpPr/>
          <p:nvPr/>
        </p:nvSpPr>
        <p:spPr>
          <a:xfrm>
            <a:off x="3410712" y="1828800"/>
            <a:ext cx="2606040" cy="356616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410712" y="1828800"/>
            <a:ext cx="2606040" cy="64008"/>
          </a:xfrm>
          <a:prstGeom prst="roundRect">
            <a:avLst>
              <a:gd name="adj" fmla="val 0"/>
            </a:avLst>
          </a:prstGeom>
          <a:solidFill>
            <a:srgbClr val="8E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639312" y="2103120"/>
            <a:ext cx="640080" cy="640080"/>
          </a:xfrm>
          <a:prstGeom prst="roundRect">
            <a:avLst>
              <a:gd name="adj" fmla="val 50000"/>
            </a:avLst>
          </a:prstGeom>
          <a:solidFill>
            <a:srgbClr val="FFFFFF"/>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2103120"/>
            <a:ext cx="640080" cy="640080"/>
          </a:xfrm>
          <a:prstGeom prst="rect">
            <a:avLst/>
          </a:prstGeom>
          <a:noFill/>
        </p:spPr>
        <p:txBody>
          <a:bodyPr wrap="square" lIns="0" tIns="0" rIns="0" bIns="0" anchor="ctr">
            <a:spAutoFit/>
          </a:bodyPr>
          <a:lstStyle/>
          <a:p>
            <a:pPr algn="ctr">
              <a:lnSpc>
                <a:spcPct val="100000"/>
              </a:lnSpc>
            </a:pPr>
            <a:r>
              <a:rPr sz="2200" b="1" i="0">
                <a:solidFill>
                  <a:srgbClr val="8E1E3F"/>
                </a:solidFill>
                <a:latin typeface="Calibri"/>
              </a:rPr>
              <a:t>2</a:t>
            </a:r>
          </a:p>
        </p:txBody>
      </p:sp>
      <p:sp>
        <p:nvSpPr>
          <p:cNvPr id="15" name="TextBox 14"/>
          <p:cNvSpPr txBox="1"/>
          <p:nvPr/>
        </p:nvSpPr>
        <p:spPr>
          <a:xfrm>
            <a:off x="3639312" y="2926080"/>
            <a:ext cx="2148840" cy="731520"/>
          </a:xfrm>
          <a:prstGeom prst="rect">
            <a:avLst/>
          </a:prstGeom>
          <a:noFill/>
        </p:spPr>
        <p:txBody>
          <a:bodyPr wrap="square" lIns="0" tIns="0" rIns="0" bIns="0" anchor="t">
            <a:spAutoFit/>
          </a:bodyPr>
          <a:lstStyle/>
          <a:p>
            <a:pPr algn="l">
              <a:lnSpc>
                <a:spcPct val="110000"/>
              </a:lnSpc>
            </a:pPr>
            <a:r>
              <a:rPr sz="1550" b="1" i="0">
                <a:solidFill>
                  <a:srgbClr val="122647"/>
                </a:solidFill>
                <a:latin typeface="Calibri"/>
              </a:rPr>
              <a:t>Field Responder</a:t>
            </a:r>
          </a:p>
        </p:txBody>
      </p:sp>
      <p:sp>
        <p:nvSpPr>
          <p:cNvPr id="16" name="TextBox 15"/>
          <p:cNvSpPr txBox="1"/>
          <p:nvPr/>
        </p:nvSpPr>
        <p:spPr>
          <a:xfrm>
            <a:off x="3639312" y="3657600"/>
            <a:ext cx="2148840" cy="16459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Receives prioritized rescue queues, relays mesh data, updates status from the field.</a:t>
            </a:r>
          </a:p>
        </p:txBody>
      </p:sp>
      <p:sp>
        <p:nvSpPr>
          <p:cNvPr id="17" name="Rounded Rectangle 16"/>
          <p:cNvSpPr/>
          <p:nvPr/>
        </p:nvSpPr>
        <p:spPr>
          <a:xfrm>
            <a:off x="6181344" y="1828800"/>
            <a:ext cx="2606040" cy="356616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81344" y="1828800"/>
            <a:ext cx="2606040" cy="64008"/>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09944" y="2103120"/>
            <a:ext cx="640080" cy="640080"/>
          </a:xfrm>
          <a:prstGeom prst="roundRect">
            <a:avLst>
              <a:gd name="adj" fmla="val 50000"/>
            </a:avLst>
          </a:prstGeom>
          <a:solidFill>
            <a:srgbClr val="FFFFFF"/>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9944" y="2103120"/>
            <a:ext cx="640080" cy="640080"/>
          </a:xfrm>
          <a:prstGeom prst="rect">
            <a:avLst/>
          </a:prstGeom>
          <a:noFill/>
        </p:spPr>
        <p:txBody>
          <a:bodyPr wrap="square" lIns="0" tIns="0" rIns="0" bIns="0" anchor="ctr">
            <a:spAutoFit/>
          </a:bodyPr>
          <a:lstStyle/>
          <a:p>
            <a:pPr algn="ctr">
              <a:lnSpc>
                <a:spcPct val="100000"/>
              </a:lnSpc>
            </a:pPr>
            <a:r>
              <a:rPr sz="2200" b="1" i="0">
                <a:solidFill>
                  <a:srgbClr val="B78A1E"/>
                </a:solidFill>
                <a:latin typeface="Calibri"/>
              </a:rPr>
              <a:t>3</a:t>
            </a:r>
          </a:p>
        </p:txBody>
      </p:sp>
      <p:sp>
        <p:nvSpPr>
          <p:cNvPr id="21" name="TextBox 20"/>
          <p:cNvSpPr txBox="1"/>
          <p:nvPr/>
        </p:nvSpPr>
        <p:spPr>
          <a:xfrm>
            <a:off x="6409944" y="2926080"/>
            <a:ext cx="2148840" cy="731520"/>
          </a:xfrm>
          <a:prstGeom prst="rect">
            <a:avLst/>
          </a:prstGeom>
          <a:noFill/>
        </p:spPr>
        <p:txBody>
          <a:bodyPr wrap="square" lIns="0" tIns="0" rIns="0" bIns="0" anchor="t">
            <a:spAutoFit/>
          </a:bodyPr>
          <a:lstStyle/>
          <a:p>
            <a:pPr algn="l">
              <a:lnSpc>
                <a:spcPct val="110000"/>
              </a:lnSpc>
            </a:pPr>
            <a:r>
              <a:rPr sz="1550" b="1" i="0">
                <a:solidFill>
                  <a:srgbClr val="122647"/>
                </a:solidFill>
                <a:latin typeface="Calibri"/>
              </a:rPr>
              <a:t>LGU / DRRM Admin</a:t>
            </a:r>
          </a:p>
        </p:txBody>
      </p:sp>
      <p:sp>
        <p:nvSpPr>
          <p:cNvPr id="22" name="TextBox 21"/>
          <p:cNvSpPr txBox="1"/>
          <p:nvPr/>
        </p:nvSpPr>
        <p:spPr>
          <a:xfrm>
            <a:off x="6409944" y="3657600"/>
            <a:ext cx="2148840" cy="16459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Monitors constituents, manages evacuation centers, runs municipal analytics.</a:t>
            </a:r>
          </a:p>
        </p:txBody>
      </p:sp>
      <p:sp>
        <p:nvSpPr>
          <p:cNvPr id="23" name="Rounded Rectangle 22"/>
          <p:cNvSpPr/>
          <p:nvPr/>
        </p:nvSpPr>
        <p:spPr>
          <a:xfrm>
            <a:off x="8951976" y="1828800"/>
            <a:ext cx="2606040" cy="356616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951976" y="1828800"/>
            <a:ext cx="2606040" cy="64008"/>
          </a:xfrm>
          <a:prstGeom prst="roundRect">
            <a:avLst>
              <a:gd name="adj" fmla="val 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180576" y="2103120"/>
            <a:ext cx="640080" cy="640080"/>
          </a:xfrm>
          <a:prstGeom prst="roundRect">
            <a:avLst>
              <a:gd name="adj" fmla="val 50000"/>
            </a:avLst>
          </a:prstGeom>
          <a:solidFill>
            <a:srgbClr val="FFFFFF"/>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80576" y="2103120"/>
            <a:ext cx="640080" cy="640080"/>
          </a:xfrm>
          <a:prstGeom prst="rect">
            <a:avLst/>
          </a:prstGeom>
          <a:noFill/>
        </p:spPr>
        <p:txBody>
          <a:bodyPr wrap="square" lIns="0" tIns="0" rIns="0" bIns="0" anchor="ctr">
            <a:spAutoFit/>
          </a:bodyPr>
          <a:lstStyle/>
          <a:p>
            <a:pPr algn="ctr">
              <a:lnSpc>
                <a:spcPct val="100000"/>
              </a:lnSpc>
            </a:pPr>
            <a:r>
              <a:rPr sz="2200" b="1" i="0">
                <a:solidFill>
                  <a:srgbClr val="2E7D4F"/>
                </a:solidFill>
                <a:latin typeface="Calibri"/>
              </a:rPr>
              <a:t>4</a:t>
            </a:r>
          </a:p>
        </p:txBody>
      </p:sp>
      <p:sp>
        <p:nvSpPr>
          <p:cNvPr id="27" name="TextBox 26"/>
          <p:cNvSpPr txBox="1"/>
          <p:nvPr/>
        </p:nvSpPr>
        <p:spPr>
          <a:xfrm>
            <a:off x="9180576" y="2926080"/>
            <a:ext cx="2148840" cy="731520"/>
          </a:xfrm>
          <a:prstGeom prst="rect">
            <a:avLst/>
          </a:prstGeom>
          <a:noFill/>
        </p:spPr>
        <p:txBody>
          <a:bodyPr wrap="square" lIns="0" tIns="0" rIns="0" bIns="0" anchor="t">
            <a:spAutoFit/>
          </a:bodyPr>
          <a:lstStyle/>
          <a:p>
            <a:pPr algn="l">
              <a:lnSpc>
                <a:spcPct val="110000"/>
              </a:lnSpc>
            </a:pPr>
            <a:r>
              <a:rPr sz="1550" b="1" i="0">
                <a:solidFill>
                  <a:srgbClr val="122647"/>
                </a:solidFill>
                <a:latin typeface="Calibri"/>
              </a:rPr>
              <a:t>DOST Super Admin</a:t>
            </a:r>
          </a:p>
        </p:txBody>
      </p:sp>
      <p:sp>
        <p:nvSpPr>
          <p:cNvPr id="28" name="TextBox 27"/>
          <p:cNvSpPr txBox="1"/>
          <p:nvPr/>
        </p:nvSpPr>
        <p:spPr>
          <a:xfrm>
            <a:off x="9180576" y="3657600"/>
            <a:ext cx="2148840" cy="16459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Oversees provincial-level data, escalations, and cross-municipality coordination.</a:t>
            </a:r>
          </a:p>
        </p:txBody>
      </p:sp>
      <p:sp>
        <p:nvSpPr>
          <p:cNvPr id="29" name="TextBox 28"/>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06</a:t>
            </a:r>
          </a:p>
        </p:txBody>
      </p:sp>
      <p:sp>
        <p:nvSpPr>
          <p:cNvPr id="30" name="TextBox 29"/>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31" name="Rounded Rectangle 30"/>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1B3A6B"/>
                </a:solidFill>
                <a:latin typeface="Calibri"/>
              </a:rPr>
              <a:t>CAPABILITIES</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Key Features at a Glance</a:t>
            </a:r>
          </a:p>
        </p:txBody>
      </p:sp>
      <p:sp>
        <p:nvSpPr>
          <p:cNvPr id="5" name="Rounded Rectangle 4"/>
          <p:cNvSpPr/>
          <p:nvPr/>
        </p:nvSpPr>
        <p:spPr>
          <a:xfrm>
            <a:off x="640080" y="1645920"/>
            <a:ext cx="5349240" cy="137160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96112" y="1901952"/>
            <a:ext cx="41148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2029968"/>
            <a:ext cx="4846320" cy="457200"/>
          </a:xfrm>
          <a:prstGeom prst="rect">
            <a:avLst/>
          </a:prstGeom>
          <a:noFill/>
        </p:spPr>
        <p:txBody>
          <a:bodyPr wrap="square" lIns="0" tIns="0" rIns="0" bIns="0" anchor="t">
            <a:spAutoFit/>
          </a:bodyPr>
          <a:lstStyle/>
          <a:p>
            <a:pPr algn="l">
              <a:lnSpc>
                <a:spcPct val="100000"/>
              </a:lnSpc>
            </a:pPr>
            <a:r>
              <a:rPr sz="1450" b="1" i="0">
                <a:solidFill>
                  <a:srgbClr val="122647"/>
                </a:solidFill>
                <a:latin typeface="Calibri"/>
              </a:rPr>
              <a:t>SOS &amp; Incident Reporting</a:t>
            </a:r>
          </a:p>
        </p:txBody>
      </p:sp>
      <p:sp>
        <p:nvSpPr>
          <p:cNvPr id="8" name="TextBox 7"/>
          <p:cNvSpPr txBox="1"/>
          <p:nvPr/>
        </p:nvSpPr>
        <p:spPr>
          <a:xfrm>
            <a:off x="896112" y="2450592"/>
            <a:ext cx="4846320" cy="502920"/>
          </a:xfrm>
          <a:prstGeom prst="rect">
            <a:avLst/>
          </a:prstGeom>
          <a:noFill/>
        </p:spPr>
        <p:txBody>
          <a:bodyPr wrap="square" lIns="0" tIns="0" rIns="0" bIns="0" anchor="t">
            <a:spAutoFit/>
          </a:bodyPr>
          <a:lstStyle/>
          <a:p>
            <a:pPr algn="l">
              <a:lnSpc>
                <a:spcPct val="120000"/>
              </a:lnSpc>
            </a:pPr>
            <a:r>
              <a:rPr sz="1100" b="0" i="0">
                <a:solidFill>
                  <a:srgbClr val="4B5563"/>
                </a:solidFill>
                <a:latin typeface="Calibri"/>
              </a:rPr>
              <a:t>Queued offline, geo-tagged, auto-synced when a connection — direct or mesh-relayed — appears.</a:t>
            </a:r>
          </a:p>
        </p:txBody>
      </p:sp>
      <p:sp>
        <p:nvSpPr>
          <p:cNvPr id="9" name="Rounded Rectangle 8"/>
          <p:cNvSpPr/>
          <p:nvPr/>
        </p:nvSpPr>
        <p:spPr>
          <a:xfrm>
            <a:off x="6217920" y="1645920"/>
            <a:ext cx="5349240" cy="137160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73952" y="1901952"/>
            <a:ext cx="41148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3952" y="2029968"/>
            <a:ext cx="4846320" cy="457200"/>
          </a:xfrm>
          <a:prstGeom prst="rect">
            <a:avLst/>
          </a:prstGeom>
          <a:noFill/>
        </p:spPr>
        <p:txBody>
          <a:bodyPr wrap="square" lIns="0" tIns="0" rIns="0" bIns="0" anchor="t">
            <a:spAutoFit/>
          </a:bodyPr>
          <a:lstStyle/>
          <a:p>
            <a:pPr algn="l">
              <a:lnSpc>
                <a:spcPct val="100000"/>
              </a:lnSpc>
            </a:pPr>
            <a:r>
              <a:rPr sz="1450" b="1" i="0">
                <a:solidFill>
                  <a:srgbClr val="122647"/>
                </a:solidFill>
                <a:latin typeface="Calibri"/>
              </a:rPr>
              <a:t>Mesh Relay Network</a:t>
            </a:r>
          </a:p>
        </p:txBody>
      </p:sp>
      <p:sp>
        <p:nvSpPr>
          <p:cNvPr id="12" name="TextBox 11"/>
          <p:cNvSpPr txBox="1"/>
          <p:nvPr/>
        </p:nvSpPr>
        <p:spPr>
          <a:xfrm>
            <a:off x="6473952" y="2450592"/>
            <a:ext cx="4846320" cy="502920"/>
          </a:xfrm>
          <a:prstGeom prst="rect">
            <a:avLst/>
          </a:prstGeom>
          <a:noFill/>
        </p:spPr>
        <p:txBody>
          <a:bodyPr wrap="square" lIns="0" tIns="0" rIns="0" bIns="0" anchor="t">
            <a:spAutoFit/>
          </a:bodyPr>
          <a:lstStyle/>
          <a:p>
            <a:pPr algn="l">
              <a:lnSpc>
                <a:spcPct val="120000"/>
              </a:lnSpc>
            </a:pPr>
            <a:r>
              <a:rPr sz="1100" b="0" i="0">
                <a:solidFill>
                  <a:srgbClr val="4B5563"/>
                </a:solidFill>
                <a:latin typeface="Calibri"/>
              </a:rPr>
              <a:t>Peer devices form an ad-hoc network that hops reports toward responders and admins.</a:t>
            </a:r>
          </a:p>
        </p:txBody>
      </p:sp>
      <p:sp>
        <p:nvSpPr>
          <p:cNvPr id="13" name="Rounded Rectangle 12"/>
          <p:cNvSpPr/>
          <p:nvPr/>
        </p:nvSpPr>
        <p:spPr>
          <a:xfrm>
            <a:off x="640080" y="3218688"/>
            <a:ext cx="5349240" cy="137160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96112" y="3474720"/>
            <a:ext cx="41148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3602736"/>
            <a:ext cx="4846320" cy="457200"/>
          </a:xfrm>
          <a:prstGeom prst="rect">
            <a:avLst/>
          </a:prstGeom>
          <a:noFill/>
        </p:spPr>
        <p:txBody>
          <a:bodyPr wrap="square" lIns="0" tIns="0" rIns="0" bIns="0" anchor="t">
            <a:spAutoFit/>
          </a:bodyPr>
          <a:lstStyle/>
          <a:p>
            <a:pPr algn="l">
              <a:lnSpc>
                <a:spcPct val="100000"/>
              </a:lnSpc>
            </a:pPr>
            <a:r>
              <a:rPr sz="1450" b="1" i="0">
                <a:solidFill>
                  <a:srgbClr val="122647"/>
                </a:solidFill>
                <a:latin typeface="Calibri"/>
              </a:rPr>
              <a:t>AI Rescue Prioritization</a:t>
            </a:r>
          </a:p>
        </p:txBody>
      </p:sp>
      <p:sp>
        <p:nvSpPr>
          <p:cNvPr id="16" name="TextBox 15"/>
          <p:cNvSpPr txBox="1"/>
          <p:nvPr/>
        </p:nvSpPr>
        <p:spPr>
          <a:xfrm>
            <a:off x="896112" y="4023360"/>
            <a:ext cx="4846320" cy="502920"/>
          </a:xfrm>
          <a:prstGeom prst="rect">
            <a:avLst/>
          </a:prstGeom>
          <a:noFill/>
        </p:spPr>
        <p:txBody>
          <a:bodyPr wrap="square" lIns="0" tIns="0" rIns="0" bIns="0" anchor="t">
            <a:spAutoFit/>
          </a:bodyPr>
          <a:lstStyle/>
          <a:p>
            <a:pPr algn="l">
              <a:lnSpc>
                <a:spcPct val="120000"/>
              </a:lnSpc>
            </a:pPr>
            <a:r>
              <a:rPr sz="1100" b="0" i="0">
                <a:solidFill>
                  <a:srgbClr val="4B5563"/>
                </a:solidFill>
                <a:latin typeface="Calibri"/>
              </a:rPr>
              <a:t>Severity scoring ranks incoming reports so responders act on the most critical cases first.</a:t>
            </a:r>
          </a:p>
        </p:txBody>
      </p:sp>
      <p:sp>
        <p:nvSpPr>
          <p:cNvPr id="17" name="Rounded Rectangle 16"/>
          <p:cNvSpPr/>
          <p:nvPr/>
        </p:nvSpPr>
        <p:spPr>
          <a:xfrm>
            <a:off x="6217920" y="3218688"/>
            <a:ext cx="5349240" cy="137160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473952" y="3474720"/>
            <a:ext cx="41148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3952" y="3602736"/>
            <a:ext cx="4846320" cy="457200"/>
          </a:xfrm>
          <a:prstGeom prst="rect">
            <a:avLst/>
          </a:prstGeom>
          <a:noFill/>
        </p:spPr>
        <p:txBody>
          <a:bodyPr wrap="square" lIns="0" tIns="0" rIns="0" bIns="0" anchor="t">
            <a:spAutoFit/>
          </a:bodyPr>
          <a:lstStyle/>
          <a:p>
            <a:pPr algn="l">
              <a:lnSpc>
                <a:spcPct val="100000"/>
              </a:lnSpc>
            </a:pPr>
            <a:r>
              <a:rPr sz="1450" b="1" i="0">
                <a:solidFill>
                  <a:srgbClr val="122647"/>
                </a:solidFill>
                <a:latin typeface="Calibri"/>
              </a:rPr>
              <a:t>Intelligent Resource Allocation</a:t>
            </a:r>
          </a:p>
        </p:txBody>
      </p:sp>
      <p:sp>
        <p:nvSpPr>
          <p:cNvPr id="20" name="TextBox 19"/>
          <p:cNvSpPr txBox="1"/>
          <p:nvPr/>
        </p:nvSpPr>
        <p:spPr>
          <a:xfrm>
            <a:off x="6473952" y="4023360"/>
            <a:ext cx="4846320" cy="502920"/>
          </a:xfrm>
          <a:prstGeom prst="rect">
            <a:avLst/>
          </a:prstGeom>
          <a:noFill/>
        </p:spPr>
        <p:txBody>
          <a:bodyPr wrap="square" lIns="0" tIns="0" rIns="0" bIns="0" anchor="t">
            <a:spAutoFit/>
          </a:bodyPr>
          <a:lstStyle/>
          <a:p>
            <a:pPr algn="l">
              <a:lnSpc>
                <a:spcPct val="120000"/>
              </a:lnSpc>
            </a:pPr>
            <a:r>
              <a:rPr sz="1100" b="0" i="0">
                <a:solidFill>
                  <a:srgbClr val="4B5563"/>
                </a:solidFill>
                <a:latin typeface="Calibri"/>
              </a:rPr>
              <a:t>Matches available responders, vehicles, and evacuation centers to demand in real time.</a:t>
            </a:r>
          </a:p>
        </p:txBody>
      </p:sp>
      <p:sp>
        <p:nvSpPr>
          <p:cNvPr id="21" name="Rounded Rectangle 20"/>
          <p:cNvSpPr/>
          <p:nvPr/>
        </p:nvSpPr>
        <p:spPr>
          <a:xfrm>
            <a:off x="640080" y="4791456"/>
            <a:ext cx="5349240" cy="137160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96112" y="5047488"/>
            <a:ext cx="41148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6112" y="5175504"/>
            <a:ext cx="4846320" cy="457200"/>
          </a:xfrm>
          <a:prstGeom prst="rect">
            <a:avLst/>
          </a:prstGeom>
          <a:noFill/>
        </p:spPr>
        <p:txBody>
          <a:bodyPr wrap="square" lIns="0" tIns="0" rIns="0" bIns="0" anchor="t">
            <a:spAutoFit/>
          </a:bodyPr>
          <a:lstStyle/>
          <a:p>
            <a:pPr algn="l">
              <a:lnSpc>
                <a:spcPct val="100000"/>
              </a:lnSpc>
            </a:pPr>
            <a:r>
              <a:rPr sz="1450" b="1" i="0">
                <a:solidFill>
                  <a:srgbClr val="122647"/>
                </a:solidFill>
                <a:latin typeface="Calibri"/>
              </a:rPr>
              <a:t>Real-Time Situational Dashboards</a:t>
            </a:r>
          </a:p>
        </p:txBody>
      </p:sp>
      <p:sp>
        <p:nvSpPr>
          <p:cNvPr id="24" name="TextBox 23"/>
          <p:cNvSpPr txBox="1"/>
          <p:nvPr/>
        </p:nvSpPr>
        <p:spPr>
          <a:xfrm>
            <a:off x="896112" y="5596128"/>
            <a:ext cx="4846320" cy="502920"/>
          </a:xfrm>
          <a:prstGeom prst="rect">
            <a:avLst/>
          </a:prstGeom>
          <a:noFill/>
        </p:spPr>
        <p:txBody>
          <a:bodyPr wrap="square" lIns="0" tIns="0" rIns="0" bIns="0" anchor="t">
            <a:spAutoFit/>
          </a:bodyPr>
          <a:lstStyle/>
          <a:p>
            <a:pPr algn="l">
              <a:lnSpc>
                <a:spcPct val="120000"/>
              </a:lnSpc>
            </a:pPr>
            <a:r>
              <a:rPr sz="1100" b="0" i="0">
                <a:solidFill>
                  <a:srgbClr val="4B5563"/>
                </a:solidFill>
                <a:latin typeface="Calibri"/>
              </a:rPr>
              <a:t>Live maps and analytics for admins from barangay up to provincial level.</a:t>
            </a:r>
          </a:p>
        </p:txBody>
      </p:sp>
      <p:sp>
        <p:nvSpPr>
          <p:cNvPr id="25" name="Rounded Rectangle 24"/>
          <p:cNvSpPr/>
          <p:nvPr/>
        </p:nvSpPr>
        <p:spPr>
          <a:xfrm>
            <a:off x="6217920" y="4791456"/>
            <a:ext cx="5349240" cy="137160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73952" y="5047488"/>
            <a:ext cx="41148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73952" y="5175504"/>
            <a:ext cx="4846320" cy="457200"/>
          </a:xfrm>
          <a:prstGeom prst="rect">
            <a:avLst/>
          </a:prstGeom>
          <a:noFill/>
        </p:spPr>
        <p:txBody>
          <a:bodyPr wrap="square" lIns="0" tIns="0" rIns="0" bIns="0" anchor="t">
            <a:spAutoFit/>
          </a:bodyPr>
          <a:lstStyle/>
          <a:p>
            <a:pPr algn="l">
              <a:lnSpc>
                <a:spcPct val="100000"/>
              </a:lnSpc>
            </a:pPr>
            <a:r>
              <a:rPr sz="1450" b="1" i="0">
                <a:solidFill>
                  <a:srgbClr val="122647"/>
                </a:solidFill>
                <a:latin typeface="Calibri"/>
              </a:rPr>
              <a:t>Constituent &amp; Safety Registry</a:t>
            </a:r>
          </a:p>
        </p:txBody>
      </p:sp>
      <p:sp>
        <p:nvSpPr>
          <p:cNvPr id="28" name="TextBox 27"/>
          <p:cNvSpPr txBox="1"/>
          <p:nvPr/>
        </p:nvSpPr>
        <p:spPr>
          <a:xfrm>
            <a:off x="6473952" y="5596128"/>
            <a:ext cx="4846320" cy="502920"/>
          </a:xfrm>
          <a:prstGeom prst="rect">
            <a:avLst/>
          </a:prstGeom>
          <a:noFill/>
        </p:spPr>
        <p:txBody>
          <a:bodyPr wrap="square" lIns="0" tIns="0" rIns="0" bIns="0" anchor="t">
            <a:spAutoFit/>
          </a:bodyPr>
          <a:lstStyle/>
          <a:p>
            <a:pPr algn="l">
              <a:lnSpc>
                <a:spcPct val="120000"/>
              </a:lnSpc>
            </a:pPr>
            <a:r>
              <a:rPr sz="1100" b="0" i="0">
                <a:solidFill>
                  <a:srgbClr val="4B5563"/>
                </a:solidFill>
                <a:latin typeface="Calibri"/>
              </a:rPr>
              <a:t>Tracks household status and safety verification across an LGU's jurisdiction.</a:t>
            </a:r>
          </a:p>
        </p:txBody>
      </p:sp>
      <p:sp>
        <p:nvSpPr>
          <p:cNvPr id="29" name="TextBox 28"/>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07</a:t>
            </a:r>
          </a:p>
        </p:txBody>
      </p:sp>
      <p:sp>
        <p:nvSpPr>
          <p:cNvPr id="30" name="TextBox 29"/>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31" name="Rounded Rectangle 30"/>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1B3A6B"/>
                </a:solidFill>
                <a:latin typeface="Calibri"/>
              </a:rPr>
              <a:t>UNDER THE HOOD</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System Architecture</a:t>
            </a:r>
          </a:p>
        </p:txBody>
      </p:sp>
      <p:sp>
        <p:nvSpPr>
          <p:cNvPr id="5" name="Rounded Rectangle 4"/>
          <p:cNvSpPr/>
          <p:nvPr/>
        </p:nvSpPr>
        <p:spPr>
          <a:xfrm>
            <a:off x="640080" y="1691640"/>
            <a:ext cx="10927080" cy="749808"/>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746504"/>
            <a:ext cx="64008" cy="640080"/>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3000" y="1691640"/>
            <a:ext cx="3108960" cy="749808"/>
          </a:xfrm>
          <a:prstGeom prst="rect">
            <a:avLst/>
          </a:prstGeom>
          <a:noFill/>
        </p:spPr>
        <p:txBody>
          <a:bodyPr wrap="square" lIns="0" tIns="0" rIns="0" bIns="0" anchor="ctr">
            <a:spAutoFit/>
          </a:bodyPr>
          <a:lstStyle/>
          <a:p>
            <a:pPr algn="l">
              <a:lnSpc>
                <a:spcPct val="100000"/>
              </a:lnSpc>
            </a:pPr>
            <a:r>
              <a:rPr sz="1450" b="1" i="0">
                <a:solidFill>
                  <a:srgbClr val="122647"/>
                </a:solidFill>
                <a:latin typeface="Calibri"/>
              </a:rPr>
              <a:t>Presentation Layer</a:t>
            </a:r>
          </a:p>
        </p:txBody>
      </p:sp>
      <p:sp>
        <p:nvSpPr>
          <p:cNvPr id="8" name="TextBox 7"/>
          <p:cNvSpPr txBox="1"/>
          <p:nvPr/>
        </p:nvSpPr>
        <p:spPr>
          <a:xfrm>
            <a:off x="4389120" y="1691640"/>
            <a:ext cx="6949440" cy="749808"/>
          </a:xfrm>
          <a:prstGeom prst="rect">
            <a:avLst/>
          </a:prstGeom>
          <a:noFill/>
        </p:spPr>
        <p:txBody>
          <a:bodyPr wrap="square" lIns="0" tIns="0" rIns="0" bIns="0" anchor="ctr">
            <a:spAutoFit/>
          </a:bodyPr>
          <a:lstStyle/>
          <a:p>
            <a:pPr algn="l">
              <a:lnSpc>
                <a:spcPct val="120000"/>
              </a:lnSpc>
            </a:pPr>
            <a:r>
              <a:rPr sz="1200" b="0" i="0">
                <a:solidFill>
                  <a:srgbClr val="4B5563"/>
                </a:solidFill>
                <a:latin typeface="Calibri"/>
              </a:rPr>
              <a:t>React / Vite PWA — installable, role-based UI for all four user types.</a:t>
            </a:r>
          </a:p>
        </p:txBody>
      </p:sp>
      <p:sp>
        <p:nvSpPr>
          <p:cNvPr id="9" name="Rounded Rectangle 8"/>
          <p:cNvSpPr/>
          <p:nvPr/>
        </p:nvSpPr>
        <p:spPr>
          <a:xfrm>
            <a:off x="640080" y="2569464"/>
            <a:ext cx="10927080" cy="749808"/>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0080" y="2624328"/>
            <a:ext cx="64008" cy="640080"/>
          </a:xfrm>
          <a:prstGeom prst="roundRect">
            <a:avLst>
              <a:gd name="adj" fmla="val 0"/>
            </a:avLst>
          </a:prstGeom>
          <a:solidFill>
            <a:srgbClr val="8E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3000" y="2569464"/>
            <a:ext cx="3108960" cy="749808"/>
          </a:xfrm>
          <a:prstGeom prst="rect">
            <a:avLst/>
          </a:prstGeom>
          <a:noFill/>
        </p:spPr>
        <p:txBody>
          <a:bodyPr wrap="square" lIns="0" tIns="0" rIns="0" bIns="0" anchor="ctr">
            <a:spAutoFit/>
          </a:bodyPr>
          <a:lstStyle/>
          <a:p>
            <a:pPr algn="l">
              <a:lnSpc>
                <a:spcPct val="100000"/>
              </a:lnSpc>
            </a:pPr>
            <a:r>
              <a:rPr sz="1450" b="1" i="0">
                <a:solidFill>
                  <a:srgbClr val="122647"/>
                </a:solidFill>
                <a:latin typeface="Calibri"/>
              </a:rPr>
              <a:t>Offline Persistence Layer</a:t>
            </a:r>
          </a:p>
        </p:txBody>
      </p:sp>
      <p:sp>
        <p:nvSpPr>
          <p:cNvPr id="12" name="TextBox 11"/>
          <p:cNvSpPr txBox="1"/>
          <p:nvPr/>
        </p:nvSpPr>
        <p:spPr>
          <a:xfrm>
            <a:off x="4389120" y="2569464"/>
            <a:ext cx="6949440" cy="749808"/>
          </a:xfrm>
          <a:prstGeom prst="rect">
            <a:avLst/>
          </a:prstGeom>
          <a:noFill/>
        </p:spPr>
        <p:txBody>
          <a:bodyPr wrap="square" lIns="0" tIns="0" rIns="0" bIns="0" anchor="ctr">
            <a:spAutoFit/>
          </a:bodyPr>
          <a:lstStyle/>
          <a:p>
            <a:pPr algn="l">
              <a:lnSpc>
                <a:spcPct val="120000"/>
              </a:lnSpc>
            </a:pPr>
            <a:r>
              <a:rPr sz="1200" b="0" i="0">
                <a:solidFill>
                  <a:srgbClr val="4B5563"/>
                </a:solidFill>
                <a:latin typeface="Calibri"/>
              </a:rPr>
              <a:t>IndexedDB local storage queues SOS reports and caches data for offline use.</a:t>
            </a:r>
          </a:p>
        </p:txBody>
      </p:sp>
      <p:sp>
        <p:nvSpPr>
          <p:cNvPr id="13" name="Rounded Rectangle 12"/>
          <p:cNvSpPr/>
          <p:nvPr/>
        </p:nvSpPr>
        <p:spPr>
          <a:xfrm>
            <a:off x="640080" y="3447288"/>
            <a:ext cx="10927080" cy="749808"/>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 y="3502152"/>
            <a:ext cx="64008" cy="640080"/>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3447288"/>
            <a:ext cx="3108960" cy="749808"/>
          </a:xfrm>
          <a:prstGeom prst="rect">
            <a:avLst/>
          </a:prstGeom>
          <a:noFill/>
        </p:spPr>
        <p:txBody>
          <a:bodyPr wrap="square" lIns="0" tIns="0" rIns="0" bIns="0" anchor="ctr">
            <a:spAutoFit/>
          </a:bodyPr>
          <a:lstStyle/>
          <a:p>
            <a:pPr algn="l">
              <a:lnSpc>
                <a:spcPct val="100000"/>
              </a:lnSpc>
            </a:pPr>
            <a:r>
              <a:rPr sz="1450" b="1" i="0">
                <a:solidFill>
                  <a:srgbClr val="122647"/>
                </a:solidFill>
                <a:latin typeface="Calibri"/>
              </a:rPr>
              <a:t>Mesh Communication Layer</a:t>
            </a:r>
          </a:p>
        </p:txBody>
      </p:sp>
      <p:sp>
        <p:nvSpPr>
          <p:cNvPr id="16" name="TextBox 15"/>
          <p:cNvSpPr txBox="1"/>
          <p:nvPr/>
        </p:nvSpPr>
        <p:spPr>
          <a:xfrm>
            <a:off x="4389120" y="3447288"/>
            <a:ext cx="6949440" cy="749808"/>
          </a:xfrm>
          <a:prstGeom prst="rect">
            <a:avLst/>
          </a:prstGeom>
          <a:noFill/>
        </p:spPr>
        <p:txBody>
          <a:bodyPr wrap="square" lIns="0" tIns="0" rIns="0" bIns="0" anchor="ctr">
            <a:spAutoFit/>
          </a:bodyPr>
          <a:lstStyle/>
          <a:p>
            <a:pPr algn="l">
              <a:lnSpc>
                <a:spcPct val="120000"/>
              </a:lnSpc>
            </a:pPr>
            <a:r>
              <a:rPr sz="1200" b="0" i="0">
                <a:solidFill>
                  <a:srgbClr val="4B5563"/>
                </a:solidFill>
                <a:latin typeface="Calibri"/>
              </a:rPr>
              <a:t>BLE / Wi-Fi Direct / WebRTC peer discovery and relay for connectivity-less areas.</a:t>
            </a:r>
          </a:p>
        </p:txBody>
      </p:sp>
      <p:sp>
        <p:nvSpPr>
          <p:cNvPr id="17" name="Rounded Rectangle 16"/>
          <p:cNvSpPr/>
          <p:nvPr/>
        </p:nvSpPr>
        <p:spPr>
          <a:xfrm>
            <a:off x="640080" y="4325112"/>
            <a:ext cx="10927080" cy="749808"/>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40080" y="4379976"/>
            <a:ext cx="64008" cy="640080"/>
          </a:xfrm>
          <a:prstGeom prst="roundRect">
            <a:avLst>
              <a:gd name="adj" fmla="val 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43000" y="4325112"/>
            <a:ext cx="3108960" cy="749808"/>
          </a:xfrm>
          <a:prstGeom prst="rect">
            <a:avLst/>
          </a:prstGeom>
          <a:noFill/>
        </p:spPr>
        <p:txBody>
          <a:bodyPr wrap="square" lIns="0" tIns="0" rIns="0" bIns="0" anchor="ctr">
            <a:spAutoFit/>
          </a:bodyPr>
          <a:lstStyle/>
          <a:p>
            <a:pPr algn="l">
              <a:lnSpc>
                <a:spcPct val="100000"/>
              </a:lnSpc>
            </a:pPr>
            <a:r>
              <a:rPr sz="1450" b="1" i="0">
                <a:solidFill>
                  <a:srgbClr val="122647"/>
                </a:solidFill>
                <a:latin typeface="Calibri"/>
              </a:rPr>
              <a:t>Intelligence Layer</a:t>
            </a:r>
          </a:p>
        </p:txBody>
      </p:sp>
      <p:sp>
        <p:nvSpPr>
          <p:cNvPr id="20" name="TextBox 19"/>
          <p:cNvSpPr txBox="1"/>
          <p:nvPr/>
        </p:nvSpPr>
        <p:spPr>
          <a:xfrm>
            <a:off x="4389120" y="4325112"/>
            <a:ext cx="6949440" cy="749808"/>
          </a:xfrm>
          <a:prstGeom prst="rect">
            <a:avLst/>
          </a:prstGeom>
          <a:noFill/>
        </p:spPr>
        <p:txBody>
          <a:bodyPr wrap="square" lIns="0" tIns="0" rIns="0" bIns="0" anchor="ctr">
            <a:spAutoFit/>
          </a:bodyPr>
          <a:lstStyle/>
          <a:p>
            <a:pPr algn="l">
              <a:lnSpc>
                <a:spcPct val="120000"/>
              </a:lnSpc>
            </a:pPr>
            <a:r>
              <a:rPr sz="1200" b="0" i="0">
                <a:solidFill>
                  <a:srgbClr val="4B5563"/>
                </a:solidFill>
                <a:latin typeface="Calibri"/>
              </a:rPr>
              <a:t>AI/ML models for triage, prioritization, and resource-matching.</a:t>
            </a:r>
          </a:p>
        </p:txBody>
      </p:sp>
      <p:sp>
        <p:nvSpPr>
          <p:cNvPr id="21" name="Rounded Rectangle 20"/>
          <p:cNvSpPr/>
          <p:nvPr/>
        </p:nvSpPr>
        <p:spPr>
          <a:xfrm>
            <a:off x="640080" y="5202936"/>
            <a:ext cx="10927080" cy="749808"/>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0080" y="5257800"/>
            <a:ext cx="64008" cy="640080"/>
          </a:xfrm>
          <a:prstGeom prst="roundRect">
            <a:avLst>
              <a:gd name="adj" fmla="val 0"/>
            </a:avLst>
          </a:prstGeom>
          <a:solidFill>
            <a:srgbClr val="3E6B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43000" y="5202936"/>
            <a:ext cx="3108960" cy="749808"/>
          </a:xfrm>
          <a:prstGeom prst="rect">
            <a:avLst/>
          </a:prstGeom>
          <a:noFill/>
        </p:spPr>
        <p:txBody>
          <a:bodyPr wrap="square" lIns="0" tIns="0" rIns="0" bIns="0" anchor="ctr">
            <a:spAutoFit/>
          </a:bodyPr>
          <a:lstStyle/>
          <a:p>
            <a:pPr algn="l">
              <a:lnSpc>
                <a:spcPct val="100000"/>
              </a:lnSpc>
            </a:pPr>
            <a:r>
              <a:rPr sz="1450" b="1" i="0">
                <a:solidFill>
                  <a:srgbClr val="122647"/>
                </a:solidFill>
                <a:latin typeface="Calibri"/>
              </a:rPr>
              <a:t>Backend &amp; Data Layer</a:t>
            </a:r>
          </a:p>
        </p:txBody>
      </p:sp>
      <p:sp>
        <p:nvSpPr>
          <p:cNvPr id="24" name="TextBox 23"/>
          <p:cNvSpPr txBox="1"/>
          <p:nvPr/>
        </p:nvSpPr>
        <p:spPr>
          <a:xfrm>
            <a:off x="4389120" y="5202936"/>
            <a:ext cx="6949440" cy="749808"/>
          </a:xfrm>
          <a:prstGeom prst="rect">
            <a:avLst/>
          </a:prstGeom>
          <a:noFill/>
        </p:spPr>
        <p:txBody>
          <a:bodyPr wrap="square" lIns="0" tIns="0" rIns="0" bIns="0" anchor="ctr">
            <a:spAutoFit/>
          </a:bodyPr>
          <a:lstStyle/>
          <a:p>
            <a:pPr algn="l">
              <a:lnSpc>
                <a:spcPct val="120000"/>
              </a:lnSpc>
            </a:pPr>
            <a:r>
              <a:rPr sz="1200" b="0" i="0">
                <a:solidFill>
                  <a:srgbClr val="4B5563"/>
                </a:solidFill>
                <a:latin typeface="Calibri"/>
              </a:rPr>
              <a:t>PHP / MySQL services for sync, persistence, and multi-role data access control.</a:t>
            </a:r>
          </a:p>
        </p:txBody>
      </p:sp>
      <p:sp>
        <p:nvSpPr>
          <p:cNvPr id="25" name="TextBox 24"/>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08</a:t>
            </a:r>
          </a:p>
        </p:txBody>
      </p:sp>
      <p:sp>
        <p:nvSpPr>
          <p:cNvPr id="26" name="TextBox 25"/>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27" name="Rounded Rectangle 26"/>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8E1E3F"/>
                </a:solidFill>
                <a:latin typeface="Calibri"/>
              </a:rPr>
              <a:t>NOVELTY &amp; INNOVATION</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200" b="1" i="0">
                <a:solidFill>
                  <a:srgbClr val="122647"/>
                </a:solidFill>
                <a:latin typeface="Calibri"/>
              </a:rPr>
              <a:t>One of the First of Its Kind in the Philippines</a:t>
            </a:r>
          </a:p>
        </p:txBody>
      </p:sp>
      <p:sp>
        <p:nvSpPr>
          <p:cNvPr id="5" name="TextBox 4"/>
          <p:cNvSpPr txBox="1"/>
          <p:nvPr/>
        </p:nvSpPr>
        <p:spPr>
          <a:xfrm>
            <a:off x="640080" y="1691640"/>
            <a:ext cx="10424160" cy="914400"/>
          </a:xfrm>
          <a:prstGeom prst="rect">
            <a:avLst/>
          </a:prstGeom>
          <a:noFill/>
        </p:spPr>
        <p:txBody>
          <a:bodyPr wrap="square" lIns="0" tIns="0" rIns="0" bIns="0" anchor="t">
            <a:spAutoFit/>
          </a:bodyPr>
          <a:lstStyle/>
          <a:p>
            <a:pPr algn="l">
              <a:lnSpc>
                <a:spcPct val="130000"/>
              </a:lnSpc>
            </a:pPr>
            <a:r>
              <a:rPr sz="1500" b="0" i="0">
                <a:solidFill>
                  <a:srgbClr val="4B5563"/>
                </a:solidFill>
                <a:latin typeface="Calibri"/>
              </a:rPr>
              <a:t>SurvAIve PH is positioned as one of the first AI-enabled, offline-capable disaster management</a:t>
            </a:r>
          </a:p>
          <a:p>
            <a:pPr algn="l">
              <a:lnSpc>
                <a:spcPct val="130000"/>
              </a:lnSpc>
            </a:pPr>
            <a:r>
              <a:rPr sz="1500" b="0" i="0">
                <a:solidFill>
                  <a:srgbClr val="4B5563"/>
                </a:solidFill>
                <a:latin typeface="Calibri"/>
              </a:rPr>
              <a:t>platforms in the country to leverage mesh networking for critical communication and information</a:t>
            </a:r>
          </a:p>
          <a:p>
            <a:pPr algn="l">
              <a:lnSpc>
                <a:spcPct val="130000"/>
              </a:lnSpc>
            </a:pPr>
            <a:r>
              <a:rPr sz="1500" b="0" i="0">
                <a:solidFill>
                  <a:srgbClr val="4B5563"/>
                </a:solidFill>
                <a:latin typeface="Calibri"/>
              </a:rPr>
              <a:t>sharing when conventional telecommunications and internet infrastructure are unavailable.</a:t>
            </a:r>
          </a:p>
        </p:txBody>
      </p:sp>
      <p:sp>
        <p:nvSpPr>
          <p:cNvPr id="6" name="Rounded Rectangle 5"/>
          <p:cNvSpPr/>
          <p:nvPr/>
        </p:nvSpPr>
        <p:spPr>
          <a:xfrm>
            <a:off x="640080" y="2971800"/>
            <a:ext cx="10927080" cy="315468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2971800"/>
            <a:ext cx="1092708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246120"/>
            <a:ext cx="4206240" cy="457200"/>
          </a:xfrm>
          <a:prstGeom prst="rect">
            <a:avLst/>
          </a:prstGeom>
          <a:noFill/>
        </p:spPr>
        <p:txBody>
          <a:bodyPr wrap="square" lIns="0" tIns="0" rIns="0" bIns="0" anchor="t">
            <a:spAutoFit/>
          </a:bodyPr>
          <a:lstStyle/>
          <a:p>
            <a:pPr algn="l">
              <a:lnSpc>
                <a:spcPct val="100000"/>
              </a:lnSpc>
            </a:pPr>
            <a:r>
              <a:rPr sz="1500" b="1" i="0">
                <a:solidFill>
                  <a:srgbClr val="1B3A6B"/>
                </a:solidFill>
                <a:latin typeface="Calibri"/>
              </a:rPr>
              <a:t>OFFLINE-FIRST MESH NETWORKING</a:t>
            </a:r>
          </a:p>
        </p:txBody>
      </p:sp>
      <p:sp>
        <p:nvSpPr>
          <p:cNvPr id="9" name="TextBox 8"/>
          <p:cNvSpPr txBox="1"/>
          <p:nvPr/>
        </p:nvSpPr>
        <p:spPr>
          <a:xfrm>
            <a:off x="914400" y="3749039"/>
            <a:ext cx="10332720" cy="2286000"/>
          </a:xfrm>
          <a:prstGeom prst="rect">
            <a:avLst/>
          </a:prstGeom>
          <a:noFill/>
        </p:spPr>
        <p:txBody>
          <a:bodyPr wrap="square" lIns="0" tIns="0" rIns="0" bIns="0" anchor="t">
            <a:spAutoFit/>
          </a:bodyPr>
          <a:lstStyle/>
          <a:p>
            <a:pPr algn="l">
              <a:lnSpc>
                <a:spcPct val="135000"/>
              </a:lnSpc>
            </a:pPr>
            <a:r>
              <a:rPr sz="1300" b="0" i="0">
                <a:solidFill>
                  <a:srgbClr val="4B5563"/>
                </a:solidFill>
                <a:latin typeface="Calibri"/>
              </a:rPr>
              <a:t>Most disaster apps treat connectivity as a given. SurvAIve PH inverts that assumption: every core function — SOS reporting, alerting, status updates — is designed to work fully offline first, then synchronize opportunistically. When direct internet access is gone, devices discover nearby peers and relay data hop-by-hop across a self-forming mesh, extending the platform's reach well beyond any single device's signal range — exactly the scenario typhoon-hit barangays face most often.</a:t>
            </a:r>
          </a:p>
        </p:txBody>
      </p:sp>
      <p:sp>
        <p:nvSpPr>
          <p:cNvPr id="10" name="TextBox 9"/>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09</a:t>
            </a:r>
          </a:p>
        </p:txBody>
      </p:sp>
      <p:sp>
        <p:nvSpPr>
          <p:cNvPr id="11" name="TextBox 10"/>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12" name="Rounded Rectangle 11"/>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8E1E3F"/>
                </a:solidFill>
                <a:latin typeface="Calibri"/>
              </a:rPr>
              <a:t>NOVELTY &amp; INNOVATION</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Four More Pillars of Innovation</a:t>
            </a:r>
          </a:p>
        </p:txBody>
      </p:sp>
      <p:sp>
        <p:nvSpPr>
          <p:cNvPr id="5" name="Rounded Rectangle 4"/>
          <p:cNvSpPr/>
          <p:nvPr/>
        </p:nvSpPr>
        <p:spPr>
          <a:xfrm>
            <a:off x="640080" y="1691640"/>
            <a:ext cx="5349240" cy="201168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14400" y="1965960"/>
            <a:ext cx="45720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103120"/>
            <a:ext cx="4800600" cy="594360"/>
          </a:xfrm>
          <a:prstGeom prst="rect">
            <a:avLst/>
          </a:prstGeom>
          <a:noFill/>
        </p:spPr>
        <p:txBody>
          <a:bodyPr wrap="square" lIns="0" tIns="0" rIns="0" bIns="0" anchor="t">
            <a:spAutoFit/>
          </a:bodyPr>
          <a:lstStyle/>
          <a:p>
            <a:pPr algn="l">
              <a:lnSpc>
                <a:spcPct val="110000"/>
              </a:lnSpc>
            </a:pPr>
            <a:r>
              <a:rPr sz="1450" b="1" i="0">
                <a:solidFill>
                  <a:srgbClr val="122647"/>
                </a:solidFill>
                <a:latin typeface="Calibri"/>
              </a:rPr>
              <a:t>Hybrid Online/Offline Operations</a:t>
            </a:r>
          </a:p>
        </p:txBody>
      </p:sp>
      <p:sp>
        <p:nvSpPr>
          <p:cNvPr id="8" name="TextBox 7"/>
          <p:cNvSpPr txBox="1"/>
          <p:nvPr/>
        </p:nvSpPr>
        <p:spPr>
          <a:xfrm>
            <a:off x="914400" y="2651760"/>
            <a:ext cx="4800600" cy="960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Seamlessly shifts between direct connectivity, mesh relay, and full offline mode without disrupting the user experience.</a:t>
            </a:r>
          </a:p>
        </p:txBody>
      </p:sp>
      <p:sp>
        <p:nvSpPr>
          <p:cNvPr id="9" name="Rounded Rectangle 8"/>
          <p:cNvSpPr/>
          <p:nvPr/>
        </p:nvSpPr>
        <p:spPr>
          <a:xfrm>
            <a:off x="6217920" y="1691640"/>
            <a:ext cx="5349240" cy="201168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92240" y="1965960"/>
            <a:ext cx="457200" cy="64008"/>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2103120"/>
            <a:ext cx="4800600" cy="594360"/>
          </a:xfrm>
          <a:prstGeom prst="rect">
            <a:avLst/>
          </a:prstGeom>
          <a:noFill/>
        </p:spPr>
        <p:txBody>
          <a:bodyPr wrap="square" lIns="0" tIns="0" rIns="0" bIns="0" anchor="t">
            <a:spAutoFit/>
          </a:bodyPr>
          <a:lstStyle/>
          <a:p>
            <a:pPr algn="l">
              <a:lnSpc>
                <a:spcPct val="110000"/>
              </a:lnSpc>
            </a:pPr>
            <a:r>
              <a:rPr sz="1450" b="1" i="0">
                <a:solidFill>
                  <a:srgbClr val="122647"/>
                </a:solidFill>
                <a:latin typeface="Calibri"/>
              </a:rPr>
              <a:t>AI-Powered Disaster Intelligence</a:t>
            </a:r>
          </a:p>
        </p:txBody>
      </p:sp>
      <p:sp>
        <p:nvSpPr>
          <p:cNvPr id="12" name="TextBox 11"/>
          <p:cNvSpPr txBox="1"/>
          <p:nvPr/>
        </p:nvSpPr>
        <p:spPr>
          <a:xfrm>
            <a:off x="6492240" y="2651760"/>
            <a:ext cx="4800600" cy="960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Severity scoring, rescue prioritization, and resource allocation driven by machine learning, not manual triage.</a:t>
            </a:r>
          </a:p>
        </p:txBody>
      </p:sp>
      <p:sp>
        <p:nvSpPr>
          <p:cNvPr id="13" name="Rounded Rectangle 12"/>
          <p:cNvSpPr/>
          <p:nvPr/>
        </p:nvSpPr>
        <p:spPr>
          <a:xfrm>
            <a:off x="640080" y="3931920"/>
            <a:ext cx="5349240" cy="201168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400" y="4206240"/>
            <a:ext cx="457200" cy="64008"/>
          </a:xfrm>
          <a:prstGeom prst="roundRect">
            <a:avLst>
              <a:gd name="adj" fmla="val 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343400"/>
            <a:ext cx="4800600" cy="594360"/>
          </a:xfrm>
          <a:prstGeom prst="rect">
            <a:avLst/>
          </a:prstGeom>
          <a:noFill/>
        </p:spPr>
        <p:txBody>
          <a:bodyPr wrap="square" lIns="0" tIns="0" rIns="0" bIns="0" anchor="t">
            <a:spAutoFit/>
          </a:bodyPr>
          <a:lstStyle/>
          <a:p>
            <a:pPr algn="l">
              <a:lnSpc>
                <a:spcPct val="110000"/>
              </a:lnSpc>
            </a:pPr>
            <a:r>
              <a:rPr sz="1450" b="1" i="0">
                <a:solidFill>
                  <a:srgbClr val="122647"/>
                </a:solidFill>
                <a:latin typeface="Calibri"/>
              </a:rPr>
              <a:t>Community-Centric Resilience Model</a:t>
            </a:r>
          </a:p>
        </p:txBody>
      </p:sp>
      <p:sp>
        <p:nvSpPr>
          <p:cNvPr id="16" name="TextBox 15"/>
          <p:cNvSpPr txBox="1"/>
          <p:nvPr/>
        </p:nvSpPr>
        <p:spPr>
          <a:xfrm>
            <a:off x="914400" y="4892040"/>
            <a:ext cx="4800600" cy="960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Turns every citizen's device into part of the response infrastructure, decentralizing resilience down to the barangay level.</a:t>
            </a:r>
          </a:p>
        </p:txBody>
      </p:sp>
      <p:sp>
        <p:nvSpPr>
          <p:cNvPr id="17" name="Rounded Rectangle 16"/>
          <p:cNvSpPr/>
          <p:nvPr/>
        </p:nvSpPr>
        <p:spPr>
          <a:xfrm>
            <a:off x="6217920" y="3931920"/>
            <a:ext cx="5349240" cy="201168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492240" y="4206240"/>
            <a:ext cx="457200" cy="64008"/>
          </a:xfrm>
          <a:prstGeom prst="roundRect">
            <a:avLst>
              <a:gd name="adj" fmla="val 0"/>
            </a:avLst>
          </a:prstGeom>
          <a:solidFill>
            <a:srgbClr val="8E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4343400"/>
            <a:ext cx="4800600" cy="594360"/>
          </a:xfrm>
          <a:prstGeom prst="rect">
            <a:avLst/>
          </a:prstGeom>
          <a:noFill/>
        </p:spPr>
        <p:txBody>
          <a:bodyPr wrap="square" lIns="0" tIns="0" rIns="0" bIns="0" anchor="t">
            <a:spAutoFit/>
          </a:bodyPr>
          <a:lstStyle/>
          <a:p>
            <a:pPr algn="l">
              <a:lnSpc>
                <a:spcPct val="110000"/>
              </a:lnSpc>
            </a:pPr>
            <a:r>
              <a:rPr sz="1450" b="1" i="0">
                <a:solidFill>
                  <a:srgbClr val="122647"/>
                </a:solidFill>
                <a:latin typeface="Calibri"/>
              </a:rPr>
              <a:t>Bridging AI, Data Science &amp; Emergency Comms</a:t>
            </a:r>
          </a:p>
        </p:txBody>
      </p:sp>
      <p:sp>
        <p:nvSpPr>
          <p:cNvPr id="20" name="TextBox 19"/>
          <p:cNvSpPr txBox="1"/>
          <p:nvPr/>
        </p:nvSpPr>
        <p:spPr>
          <a:xfrm>
            <a:off x="6492240" y="4892040"/>
            <a:ext cx="4800600" cy="960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Integrates three domains rarely combined in one platform — applied AI, data science, and emergency communications engineering.</a:t>
            </a:r>
          </a:p>
        </p:txBody>
      </p:sp>
      <p:sp>
        <p:nvSpPr>
          <p:cNvPr id="21" name="TextBox 20"/>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10</a:t>
            </a:r>
          </a:p>
        </p:txBody>
      </p:sp>
      <p:sp>
        <p:nvSpPr>
          <p:cNvPr id="22" name="TextBox 21"/>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23" name="Rounded Rectangle 22"/>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B78A1E"/>
                </a:solidFill>
                <a:latin typeface="Calibri"/>
              </a:rPr>
              <a:t>ARTIFICIAL INTELLIGENCE</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How AI Drives Disaster Response</a:t>
            </a:r>
          </a:p>
        </p:txBody>
      </p:sp>
      <p:sp>
        <p:nvSpPr>
          <p:cNvPr id="5" name="TextBox 4"/>
          <p:cNvSpPr txBox="1"/>
          <p:nvPr/>
        </p:nvSpPr>
        <p:spPr>
          <a:xfrm>
            <a:off x="640080" y="1691640"/>
            <a:ext cx="6126480" cy="4389120"/>
          </a:xfrm>
          <a:prstGeom prst="rect">
            <a:avLst/>
          </a:prstGeom>
          <a:noFill/>
        </p:spPr>
        <p:txBody>
          <a:bodyPr wrap="square" lIns="0" tIns="0" rIns="0" bIns="0">
            <a:spAutoFit/>
          </a:bodyPr>
          <a:lstStyle/>
          <a:p>
            <a:pPr>
              <a:lnSpc>
                <a:spcPct val="120000"/>
              </a:lnSpc>
              <a:spcAft>
                <a:spcPts val="1600"/>
              </a:spcAft>
            </a:pPr>
            <a:r>
              <a:rPr sz="1400" b="1">
                <a:solidFill>
                  <a:srgbClr val="B78A1E"/>
                </a:solidFill>
                <a:latin typeface="Calibri"/>
              </a:rPr>
              <a:t>▸  </a:t>
            </a:r>
            <a:r>
              <a:rPr sz="1400" b="1">
                <a:solidFill>
                  <a:srgbClr val="1F2937"/>
                </a:solidFill>
                <a:latin typeface="Calibri"/>
              </a:rPr>
              <a:t>Rescue Prioritization — </a:t>
            </a:r>
            <a:r>
              <a:rPr sz="1400">
                <a:solidFill>
                  <a:srgbClr val="4B5563"/>
                </a:solidFill>
                <a:latin typeface="Calibri"/>
              </a:rPr>
              <a:t>Classifies and ranks incoming SOS reports by urgency and severity so responders act on life-threatening cases first.</a:t>
            </a:r>
          </a:p>
          <a:p>
            <a:pPr>
              <a:lnSpc>
                <a:spcPct val="120000"/>
              </a:lnSpc>
              <a:spcAft>
                <a:spcPts val="1600"/>
              </a:spcAft>
            </a:pPr>
            <a:r>
              <a:rPr sz="1400" b="1">
                <a:solidFill>
                  <a:srgbClr val="B78A1E"/>
                </a:solidFill>
                <a:latin typeface="Calibri"/>
              </a:rPr>
              <a:t>▸  </a:t>
            </a:r>
            <a:r>
              <a:rPr sz="1400" b="1">
                <a:solidFill>
                  <a:srgbClr val="1F2937"/>
                </a:solidFill>
                <a:latin typeface="Calibri"/>
              </a:rPr>
              <a:t>Resource Allocation — </a:t>
            </a:r>
            <a:r>
              <a:rPr sz="1400">
                <a:solidFill>
                  <a:srgbClr val="4B5563"/>
                </a:solidFill>
                <a:latin typeface="Calibri"/>
              </a:rPr>
              <a:t>Recommends optimal assignment of responders, vehicles, and evacuation centers based on real-time demand and location.</a:t>
            </a:r>
          </a:p>
          <a:p>
            <a:pPr>
              <a:lnSpc>
                <a:spcPct val="120000"/>
              </a:lnSpc>
              <a:spcAft>
                <a:spcPts val="1600"/>
              </a:spcAft>
            </a:pPr>
            <a:r>
              <a:rPr sz="1400" b="1">
                <a:solidFill>
                  <a:srgbClr val="B78A1E"/>
                </a:solidFill>
                <a:latin typeface="Calibri"/>
              </a:rPr>
              <a:t>▸  </a:t>
            </a:r>
            <a:r>
              <a:rPr sz="1400" b="1">
                <a:solidFill>
                  <a:srgbClr val="1F2937"/>
                </a:solidFill>
                <a:latin typeface="Calibri"/>
              </a:rPr>
              <a:t>Situational Awareness — </a:t>
            </a:r>
            <a:r>
              <a:rPr sz="1400">
                <a:solidFill>
                  <a:srgbClr val="4B5563"/>
                </a:solidFill>
                <a:latin typeface="Calibri"/>
              </a:rPr>
              <a:t>Synthesizes mesh and sensor data into a live, AI-summarized operational picture for command dashboards.</a:t>
            </a:r>
          </a:p>
          <a:p>
            <a:pPr>
              <a:lnSpc>
                <a:spcPct val="120000"/>
              </a:lnSpc>
              <a:spcAft>
                <a:spcPts val="1600"/>
              </a:spcAft>
            </a:pPr>
            <a:r>
              <a:rPr sz="1400" b="1">
                <a:solidFill>
                  <a:srgbClr val="B78A1E"/>
                </a:solidFill>
                <a:latin typeface="Calibri"/>
              </a:rPr>
              <a:t>▸  </a:t>
            </a:r>
            <a:r>
              <a:rPr sz="1400" b="1">
                <a:solidFill>
                  <a:srgbClr val="1F2937"/>
                </a:solidFill>
                <a:latin typeface="Calibri"/>
              </a:rPr>
              <a:t>Anomaly &amp; Escalation Detection — </a:t>
            </a:r>
            <a:r>
              <a:rPr sz="1400">
                <a:solidFill>
                  <a:srgbClr val="4B5563"/>
                </a:solidFill>
                <a:latin typeface="Calibri"/>
              </a:rPr>
              <a:t>Flags unusual surges in reports or unresponsive zones for immediate admin attention.</a:t>
            </a:r>
          </a:p>
        </p:txBody>
      </p:sp>
      <p:sp>
        <p:nvSpPr>
          <p:cNvPr id="6" name="Rounded Rectangle 5"/>
          <p:cNvSpPr/>
          <p:nvPr/>
        </p:nvSpPr>
        <p:spPr>
          <a:xfrm>
            <a:off x="7040880" y="1691640"/>
            <a:ext cx="4526280" cy="438912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040880" y="1691640"/>
            <a:ext cx="4526280" cy="64008"/>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69480" y="1965960"/>
            <a:ext cx="4023360" cy="457200"/>
          </a:xfrm>
          <a:prstGeom prst="rect">
            <a:avLst/>
          </a:prstGeom>
          <a:noFill/>
        </p:spPr>
        <p:txBody>
          <a:bodyPr wrap="square" lIns="0" tIns="0" rIns="0" bIns="0" anchor="t">
            <a:spAutoFit/>
          </a:bodyPr>
          <a:lstStyle/>
          <a:p>
            <a:pPr algn="l">
              <a:lnSpc>
                <a:spcPct val="100000"/>
              </a:lnSpc>
            </a:pPr>
            <a:r>
              <a:rPr sz="1200" b="1" i="0">
                <a:solidFill>
                  <a:srgbClr val="B78A1E"/>
                </a:solidFill>
                <a:latin typeface="Calibri"/>
              </a:rPr>
              <a:t>DESIGN PRINCIPLE</a:t>
            </a:r>
          </a:p>
        </p:txBody>
      </p:sp>
      <p:sp>
        <p:nvSpPr>
          <p:cNvPr id="9" name="TextBox 8"/>
          <p:cNvSpPr txBox="1"/>
          <p:nvPr/>
        </p:nvSpPr>
        <p:spPr>
          <a:xfrm>
            <a:off x="7269480" y="2423160"/>
            <a:ext cx="4069080" cy="3566160"/>
          </a:xfrm>
          <a:prstGeom prst="rect">
            <a:avLst/>
          </a:prstGeom>
          <a:noFill/>
        </p:spPr>
        <p:txBody>
          <a:bodyPr wrap="square" lIns="0" tIns="0" rIns="0" bIns="0" anchor="t">
            <a:spAutoFit/>
          </a:bodyPr>
          <a:lstStyle/>
          <a:p>
            <a:pPr algn="l">
              <a:lnSpc>
                <a:spcPct val="135000"/>
              </a:lnSpc>
            </a:pPr>
            <a:r>
              <a:rPr sz="1250" b="0" i="0">
                <a:solidFill>
                  <a:srgbClr val="4B5563"/>
                </a:solidFill>
                <a:latin typeface="Calibri"/>
              </a:rPr>
              <a:t>AI inference is designed to run close to the edge — lightweight models suited for on-device or local-server execution — so prioritization and triage continue functioning even while a site is fully offline, with full-scale model updates and retraining handled centrally once connectivity is restored.</a:t>
            </a:r>
          </a:p>
        </p:txBody>
      </p:sp>
      <p:sp>
        <p:nvSpPr>
          <p:cNvPr id="10" name="TextBox 9"/>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11</a:t>
            </a:r>
          </a:p>
        </p:txBody>
      </p:sp>
      <p:sp>
        <p:nvSpPr>
          <p:cNvPr id="11" name="TextBox 10"/>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12" name="Rounded Rectangle 11"/>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2E7D4F"/>
                </a:solidFill>
                <a:latin typeface="Calibri"/>
              </a:rPr>
              <a:t>DATA SCIENCE</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Turning Reports Into Insight</a:t>
            </a:r>
          </a:p>
        </p:txBody>
      </p:sp>
      <p:sp>
        <p:nvSpPr>
          <p:cNvPr id="5" name="Rounded Rectangle 4"/>
          <p:cNvSpPr/>
          <p:nvPr/>
        </p:nvSpPr>
        <p:spPr>
          <a:xfrm>
            <a:off x="640080" y="1783080"/>
            <a:ext cx="2606040" cy="301752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783080"/>
            <a:ext cx="260604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993392"/>
            <a:ext cx="2148840" cy="457200"/>
          </a:xfrm>
          <a:prstGeom prst="rect">
            <a:avLst/>
          </a:prstGeom>
          <a:noFill/>
        </p:spPr>
        <p:txBody>
          <a:bodyPr wrap="square" lIns="0" tIns="0" rIns="0" bIns="0" anchor="t">
            <a:spAutoFit/>
          </a:bodyPr>
          <a:lstStyle/>
          <a:p>
            <a:pPr algn="l">
              <a:lnSpc>
                <a:spcPct val="100000"/>
              </a:lnSpc>
            </a:pPr>
            <a:r>
              <a:rPr sz="2200" b="1" i="0">
                <a:solidFill>
                  <a:srgbClr val="1B3A6B"/>
                </a:solidFill>
                <a:latin typeface="Calibri"/>
              </a:rPr>
              <a:t>01</a:t>
            </a:r>
          </a:p>
        </p:txBody>
      </p:sp>
      <p:sp>
        <p:nvSpPr>
          <p:cNvPr id="8" name="TextBox 7"/>
          <p:cNvSpPr txBox="1"/>
          <p:nvPr/>
        </p:nvSpPr>
        <p:spPr>
          <a:xfrm>
            <a:off x="868680" y="2542032"/>
            <a:ext cx="2148840" cy="502920"/>
          </a:xfrm>
          <a:prstGeom prst="rect">
            <a:avLst/>
          </a:prstGeom>
          <a:noFill/>
        </p:spPr>
        <p:txBody>
          <a:bodyPr wrap="square" lIns="0" tIns="0" rIns="0" bIns="0" anchor="t">
            <a:spAutoFit/>
          </a:bodyPr>
          <a:lstStyle/>
          <a:p>
            <a:pPr algn="l">
              <a:lnSpc>
                <a:spcPct val="100000"/>
              </a:lnSpc>
            </a:pPr>
            <a:r>
              <a:rPr sz="1550" b="1" i="0">
                <a:solidFill>
                  <a:srgbClr val="122647"/>
                </a:solidFill>
                <a:latin typeface="Calibri"/>
              </a:rPr>
              <a:t>Collection</a:t>
            </a:r>
          </a:p>
        </p:txBody>
      </p:sp>
      <p:sp>
        <p:nvSpPr>
          <p:cNvPr id="9" name="TextBox 8"/>
          <p:cNvSpPr txBox="1"/>
          <p:nvPr/>
        </p:nvSpPr>
        <p:spPr>
          <a:xfrm>
            <a:off x="868680" y="3044952"/>
            <a:ext cx="2148840" cy="1691640"/>
          </a:xfrm>
          <a:prstGeom prst="rect">
            <a:avLst/>
          </a:prstGeom>
          <a:noFill/>
        </p:spPr>
        <p:txBody>
          <a:bodyPr wrap="square" lIns="0" tIns="0" rIns="0" bIns="0" anchor="t">
            <a:spAutoFit/>
          </a:bodyPr>
          <a:lstStyle/>
          <a:p>
            <a:pPr algn="l">
              <a:lnSpc>
                <a:spcPct val="125000"/>
              </a:lnSpc>
            </a:pPr>
            <a:r>
              <a:rPr sz="1100" b="0" i="0">
                <a:solidFill>
                  <a:srgbClr val="4B5563"/>
                </a:solidFill>
                <a:latin typeface="Calibri"/>
              </a:rPr>
              <a:t>SOS reports, mesh events, and registry data captured across all four roles.</a:t>
            </a:r>
          </a:p>
        </p:txBody>
      </p:sp>
      <p:sp>
        <p:nvSpPr>
          <p:cNvPr id="10" name="TextBox 9"/>
          <p:cNvSpPr txBox="1"/>
          <p:nvPr/>
        </p:nvSpPr>
        <p:spPr>
          <a:xfrm>
            <a:off x="3264408" y="2971800"/>
            <a:ext cx="146304" cy="365760"/>
          </a:xfrm>
          <a:prstGeom prst="rect">
            <a:avLst/>
          </a:prstGeom>
          <a:noFill/>
        </p:spPr>
        <p:txBody>
          <a:bodyPr wrap="square" lIns="0" tIns="0" rIns="0" bIns="0" anchor="t">
            <a:spAutoFit/>
          </a:bodyPr>
          <a:lstStyle/>
          <a:p>
            <a:pPr algn="ctr">
              <a:lnSpc>
                <a:spcPct val="100000"/>
              </a:lnSpc>
            </a:pPr>
            <a:r>
              <a:rPr sz="1800" b="0" i="0">
                <a:solidFill>
                  <a:srgbClr val="6B7480"/>
                </a:solidFill>
                <a:latin typeface="Calibri"/>
              </a:rPr>
              <a:t>→</a:t>
            </a:r>
          </a:p>
        </p:txBody>
      </p:sp>
      <p:sp>
        <p:nvSpPr>
          <p:cNvPr id="11" name="Rounded Rectangle 10"/>
          <p:cNvSpPr/>
          <p:nvPr/>
        </p:nvSpPr>
        <p:spPr>
          <a:xfrm>
            <a:off x="3410712" y="1783080"/>
            <a:ext cx="2606040" cy="301752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410712" y="1783080"/>
            <a:ext cx="2606040" cy="64008"/>
          </a:xfrm>
          <a:prstGeom prst="roundRect">
            <a:avLst>
              <a:gd name="adj" fmla="val 0"/>
            </a:avLst>
          </a:prstGeom>
          <a:solidFill>
            <a:srgbClr val="8E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39312" y="1993392"/>
            <a:ext cx="2148840" cy="457200"/>
          </a:xfrm>
          <a:prstGeom prst="rect">
            <a:avLst/>
          </a:prstGeom>
          <a:noFill/>
        </p:spPr>
        <p:txBody>
          <a:bodyPr wrap="square" lIns="0" tIns="0" rIns="0" bIns="0" anchor="t">
            <a:spAutoFit/>
          </a:bodyPr>
          <a:lstStyle/>
          <a:p>
            <a:pPr algn="l">
              <a:lnSpc>
                <a:spcPct val="100000"/>
              </a:lnSpc>
            </a:pPr>
            <a:r>
              <a:rPr sz="2200" b="1" i="0">
                <a:solidFill>
                  <a:srgbClr val="8E1E3F"/>
                </a:solidFill>
                <a:latin typeface="Calibri"/>
              </a:rPr>
              <a:t>02</a:t>
            </a:r>
          </a:p>
        </p:txBody>
      </p:sp>
      <p:sp>
        <p:nvSpPr>
          <p:cNvPr id="14" name="TextBox 13"/>
          <p:cNvSpPr txBox="1"/>
          <p:nvPr/>
        </p:nvSpPr>
        <p:spPr>
          <a:xfrm>
            <a:off x="3639312" y="2542032"/>
            <a:ext cx="2148840" cy="502920"/>
          </a:xfrm>
          <a:prstGeom prst="rect">
            <a:avLst/>
          </a:prstGeom>
          <a:noFill/>
        </p:spPr>
        <p:txBody>
          <a:bodyPr wrap="square" lIns="0" tIns="0" rIns="0" bIns="0" anchor="t">
            <a:spAutoFit/>
          </a:bodyPr>
          <a:lstStyle/>
          <a:p>
            <a:pPr algn="l">
              <a:lnSpc>
                <a:spcPct val="100000"/>
              </a:lnSpc>
            </a:pPr>
            <a:r>
              <a:rPr sz="1550" b="1" i="0">
                <a:solidFill>
                  <a:srgbClr val="122647"/>
                </a:solidFill>
                <a:latin typeface="Calibri"/>
              </a:rPr>
              <a:t>Processing</a:t>
            </a:r>
          </a:p>
        </p:txBody>
      </p:sp>
      <p:sp>
        <p:nvSpPr>
          <p:cNvPr id="15" name="TextBox 14"/>
          <p:cNvSpPr txBox="1"/>
          <p:nvPr/>
        </p:nvSpPr>
        <p:spPr>
          <a:xfrm>
            <a:off x="3639312" y="3044952"/>
            <a:ext cx="2148840" cy="1691640"/>
          </a:xfrm>
          <a:prstGeom prst="rect">
            <a:avLst/>
          </a:prstGeom>
          <a:noFill/>
        </p:spPr>
        <p:txBody>
          <a:bodyPr wrap="square" lIns="0" tIns="0" rIns="0" bIns="0" anchor="t">
            <a:spAutoFit/>
          </a:bodyPr>
          <a:lstStyle/>
          <a:p>
            <a:pPr algn="l">
              <a:lnSpc>
                <a:spcPct val="125000"/>
              </a:lnSpc>
            </a:pPr>
            <a:r>
              <a:rPr sz="1100" b="0" i="0">
                <a:solidFill>
                  <a:srgbClr val="4B5563"/>
                </a:solidFill>
                <a:latin typeface="Calibri"/>
              </a:rPr>
              <a:t>Cleaning, geo-tagging, and structuring data for analysis and offline queuing.</a:t>
            </a:r>
          </a:p>
        </p:txBody>
      </p:sp>
      <p:sp>
        <p:nvSpPr>
          <p:cNvPr id="16" name="TextBox 15"/>
          <p:cNvSpPr txBox="1"/>
          <p:nvPr/>
        </p:nvSpPr>
        <p:spPr>
          <a:xfrm>
            <a:off x="6035040" y="2971800"/>
            <a:ext cx="146304" cy="365760"/>
          </a:xfrm>
          <a:prstGeom prst="rect">
            <a:avLst/>
          </a:prstGeom>
          <a:noFill/>
        </p:spPr>
        <p:txBody>
          <a:bodyPr wrap="square" lIns="0" tIns="0" rIns="0" bIns="0" anchor="t">
            <a:spAutoFit/>
          </a:bodyPr>
          <a:lstStyle/>
          <a:p>
            <a:pPr algn="ctr">
              <a:lnSpc>
                <a:spcPct val="100000"/>
              </a:lnSpc>
            </a:pPr>
            <a:r>
              <a:rPr sz="1800" b="0" i="0">
                <a:solidFill>
                  <a:srgbClr val="6B7480"/>
                </a:solidFill>
                <a:latin typeface="Calibri"/>
              </a:rPr>
              <a:t>→</a:t>
            </a:r>
          </a:p>
        </p:txBody>
      </p:sp>
      <p:sp>
        <p:nvSpPr>
          <p:cNvPr id="17" name="Rounded Rectangle 16"/>
          <p:cNvSpPr/>
          <p:nvPr/>
        </p:nvSpPr>
        <p:spPr>
          <a:xfrm>
            <a:off x="6181344" y="1783080"/>
            <a:ext cx="2606040" cy="301752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81344" y="1783080"/>
            <a:ext cx="2606040" cy="64008"/>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9944" y="1993392"/>
            <a:ext cx="2148840" cy="457200"/>
          </a:xfrm>
          <a:prstGeom prst="rect">
            <a:avLst/>
          </a:prstGeom>
          <a:noFill/>
        </p:spPr>
        <p:txBody>
          <a:bodyPr wrap="square" lIns="0" tIns="0" rIns="0" bIns="0" anchor="t">
            <a:spAutoFit/>
          </a:bodyPr>
          <a:lstStyle/>
          <a:p>
            <a:pPr algn="l">
              <a:lnSpc>
                <a:spcPct val="100000"/>
              </a:lnSpc>
            </a:pPr>
            <a:r>
              <a:rPr sz="2200" b="1" i="0">
                <a:solidFill>
                  <a:srgbClr val="B78A1E"/>
                </a:solidFill>
                <a:latin typeface="Calibri"/>
              </a:rPr>
              <a:t>03</a:t>
            </a:r>
          </a:p>
        </p:txBody>
      </p:sp>
      <p:sp>
        <p:nvSpPr>
          <p:cNvPr id="20" name="TextBox 19"/>
          <p:cNvSpPr txBox="1"/>
          <p:nvPr/>
        </p:nvSpPr>
        <p:spPr>
          <a:xfrm>
            <a:off x="6409944" y="2542032"/>
            <a:ext cx="2148840" cy="502920"/>
          </a:xfrm>
          <a:prstGeom prst="rect">
            <a:avLst/>
          </a:prstGeom>
          <a:noFill/>
        </p:spPr>
        <p:txBody>
          <a:bodyPr wrap="square" lIns="0" tIns="0" rIns="0" bIns="0" anchor="t">
            <a:spAutoFit/>
          </a:bodyPr>
          <a:lstStyle/>
          <a:p>
            <a:pPr algn="l">
              <a:lnSpc>
                <a:spcPct val="100000"/>
              </a:lnSpc>
            </a:pPr>
            <a:r>
              <a:rPr sz="1550" b="1" i="0">
                <a:solidFill>
                  <a:srgbClr val="122647"/>
                </a:solidFill>
                <a:latin typeface="Calibri"/>
              </a:rPr>
              <a:t>Modeling</a:t>
            </a:r>
          </a:p>
        </p:txBody>
      </p:sp>
      <p:sp>
        <p:nvSpPr>
          <p:cNvPr id="21" name="TextBox 20"/>
          <p:cNvSpPr txBox="1"/>
          <p:nvPr/>
        </p:nvSpPr>
        <p:spPr>
          <a:xfrm>
            <a:off x="6409944" y="3044952"/>
            <a:ext cx="2148840" cy="1691640"/>
          </a:xfrm>
          <a:prstGeom prst="rect">
            <a:avLst/>
          </a:prstGeom>
          <a:noFill/>
        </p:spPr>
        <p:txBody>
          <a:bodyPr wrap="square" lIns="0" tIns="0" rIns="0" bIns="0" anchor="t">
            <a:spAutoFit/>
          </a:bodyPr>
          <a:lstStyle/>
          <a:p>
            <a:pPr algn="l">
              <a:lnSpc>
                <a:spcPct val="125000"/>
              </a:lnSpc>
            </a:pPr>
            <a:r>
              <a:rPr sz="1100" b="0" i="0">
                <a:solidFill>
                  <a:srgbClr val="4B5563"/>
                </a:solidFill>
                <a:latin typeface="Calibri"/>
              </a:rPr>
              <a:t>Severity scoring, clustering of affected areas, and predictive resource demand.</a:t>
            </a:r>
          </a:p>
        </p:txBody>
      </p:sp>
      <p:sp>
        <p:nvSpPr>
          <p:cNvPr id="22" name="TextBox 21"/>
          <p:cNvSpPr txBox="1"/>
          <p:nvPr/>
        </p:nvSpPr>
        <p:spPr>
          <a:xfrm>
            <a:off x="8805672" y="2971800"/>
            <a:ext cx="146304" cy="365760"/>
          </a:xfrm>
          <a:prstGeom prst="rect">
            <a:avLst/>
          </a:prstGeom>
          <a:noFill/>
        </p:spPr>
        <p:txBody>
          <a:bodyPr wrap="square" lIns="0" tIns="0" rIns="0" bIns="0" anchor="t">
            <a:spAutoFit/>
          </a:bodyPr>
          <a:lstStyle/>
          <a:p>
            <a:pPr algn="ctr">
              <a:lnSpc>
                <a:spcPct val="100000"/>
              </a:lnSpc>
            </a:pPr>
            <a:r>
              <a:rPr sz="1800" b="0" i="0">
                <a:solidFill>
                  <a:srgbClr val="6B7480"/>
                </a:solidFill>
                <a:latin typeface="Calibri"/>
              </a:rPr>
              <a:t>→</a:t>
            </a:r>
          </a:p>
        </p:txBody>
      </p:sp>
      <p:sp>
        <p:nvSpPr>
          <p:cNvPr id="23" name="Rounded Rectangle 22"/>
          <p:cNvSpPr/>
          <p:nvPr/>
        </p:nvSpPr>
        <p:spPr>
          <a:xfrm>
            <a:off x="8951976" y="1783080"/>
            <a:ext cx="2606040" cy="301752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951976" y="1783080"/>
            <a:ext cx="2606040" cy="64008"/>
          </a:xfrm>
          <a:prstGeom prst="roundRect">
            <a:avLst>
              <a:gd name="adj" fmla="val 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80576" y="1993392"/>
            <a:ext cx="2148840" cy="457200"/>
          </a:xfrm>
          <a:prstGeom prst="rect">
            <a:avLst/>
          </a:prstGeom>
          <a:noFill/>
        </p:spPr>
        <p:txBody>
          <a:bodyPr wrap="square" lIns="0" tIns="0" rIns="0" bIns="0" anchor="t">
            <a:spAutoFit/>
          </a:bodyPr>
          <a:lstStyle/>
          <a:p>
            <a:pPr algn="l">
              <a:lnSpc>
                <a:spcPct val="100000"/>
              </a:lnSpc>
            </a:pPr>
            <a:r>
              <a:rPr sz="2200" b="1" i="0">
                <a:solidFill>
                  <a:srgbClr val="2E7D4F"/>
                </a:solidFill>
                <a:latin typeface="Calibri"/>
              </a:rPr>
              <a:t>04</a:t>
            </a:r>
          </a:p>
        </p:txBody>
      </p:sp>
      <p:sp>
        <p:nvSpPr>
          <p:cNvPr id="26" name="TextBox 25"/>
          <p:cNvSpPr txBox="1"/>
          <p:nvPr/>
        </p:nvSpPr>
        <p:spPr>
          <a:xfrm>
            <a:off x="9180576" y="2542032"/>
            <a:ext cx="2148840" cy="502920"/>
          </a:xfrm>
          <a:prstGeom prst="rect">
            <a:avLst/>
          </a:prstGeom>
          <a:noFill/>
        </p:spPr>
        <p:txBody>
          <a:bodyPr wrap="square" lIns="0" tIns="0" rIns="0" bIns="0" anchor="t">
            <a:spAutoFit/>
          </a:bodyPr>
          <a:lstStyle/>
          <a:p>
            <a:pPr algn="l">
              <a:lnSpc>
                <a:spcPct val="100000"/>
              </a:lnSpc>
            </a:pPr>
            <a:r>
              <a:rPr sz="1550" b="1" i="0">
                <a:solidFill>
                  <a:srgbClr val="122647"/>
                </a:solidFill>
                <a:latin typeface="Calibri"/>
              </a:rPr>
              <a:t>Visualization</a:t>
            </a:r>
          </a:p>
        </p:txBody>
      </p:sp>
      <p:sp>
        <p:nvSpPr>
          <p:cNvPr id="27" name="TextBox 26"/>
          <p:cNvSpPr txBox="1"/>
          <p:nvPr/>
        </p:nvSpPr>
        <p:spPr>
          <a:xfrm>
            <a:off x="9180576" y="3044952"/>
            <a:ext cx="2148840" cy="1691640"/>
          </a:xfrm>
          <a:prstGeom prst="rect">
            <a:avLst/>
          </a:prstGeom>
          <a:noFill/>
        </p:spPr>
        <p:txBody>
          <a:bodyPr wrap="square" lIns="0" tIns="0" rIns="0" bIns="0" anchor="t">
            <a:spAutoFit/>
          </a:bodyPr>
          <a:lstStyle/>
          <a:p>
            <a:pPr algn="l">
              <a:lnSpc>
                <a:spcPct val="125000"/>
              </a:lnSpc>
            </a:pPr>
            <a:r>
              <a:rPr sz="1100" b="0" i="0">
                <a:solidFill>
                  <a:srgbClr val="4B5563"/>
                </a:solidFill>
                <a:latin typeface="Calibri"/>
              </a:rPr>
              <a:t>Real-time dashboards and analytics from barangay to provincial level.</a:t>
            </a:r>
          </a:p>
        </p:txBody>
      </p:sp>
      <p:sp>
        <p:nvSpPr>
          <p:cNvPr id="28" name="TextBox 27"/>
          <p:cNvSpPr txBox="1"/>
          <p:nvPr/>
        </p:nvSpPr>
        <p:spPr>
          <a:xfrm>
            <a:off x="640080" y="5029200"/>
            <a:ext cx="10927080" cy="1005840"/>
          </a:xfrm>
          <a:prstGeom prst="rect">
            <a:avLst/>
          </a:prstGeom>
          <a:noFill/>
        </p:spPr>
        <p:txBody>
          <a:bodyPr wrap="square" lIns="0" tIns="0" rIns="0" bIns="0" anchor="t">
            <a:spAutoFit/>
          </a:bodyPr>
          <a:lstStyle/>
          <a:p>
            <a:pPr algn="l">
              <a:lnSpc>
                <a:spcPct val="130000"/>
              </a:lnSpc>
            </a:pPr>
            <a:r>
              <a:rPr sz="1250" b="0" i="0">
                <a:solidFill>
                  <a:srgbClr val="4B5563"/>
                </a:solidFill>
                <a:latin typeface="Calibri"/>
              </a:rPr>
              <a:t>This pipeline feeds the AI layer described previously and underpins every dashboard in the platform — from a citizen's status screen to a DOST provincial analytics view — ensuring decisions at every level are grounded in the same continuously-updated data.</a:t>
            </a:r>
          </a:p>
        </p:txBody>
      </p:sp>
      <p:sp>
        <p:nvSpPr>
          <p:cNvPr id="29" name="TextBox 28"/>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12</a:t>
            </a:r>
          </a:p>
        </p:txBody>
      </p:sp>
      <p:sp>
        <p:nvSpPr>
          <p:cNvPr id="30" name="TextBox 29"/>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31" name="Rounded Rectangle 30"/>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8E1E3F"/>
                </a:solidFill>
                <a:latin typeface="Calibri"/>
              </a:rPr>
              <a:t>SIGNIFICANCE</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Built for a Typhoon-Prone Archipelago</a:t>
            </a:r>
          </a:p>
        </p:txBody>
      </p:sp>
      <p:sp>
        <p:nvSpPr>
          <p:cNvPr id="5" name="Rounded Rectangle 4"/>
          <p:cNvSpPr/>
          <p:nvPr/>
        </p:nvSpPr>
        <p:spPr>
          <a:xfrm>
            <a:off x="640080" y="1691640"/>
            <a:ext cx="2606040" cy="192024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691640"/>
            <a:ext cx="2606040" cy="64008"/>
          </a:xfrm>
          <a:prstGeom prst="roundRect">
            <a:avLst>
              <a:gd name="adj" fmla="val 0"/>
            </a:avLst>
          </a:prstGeom>
          <a:solidFill>
            <a:srgbClr val="8E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947672"/>
            <a:ext cx="2606040" cy="731520"/>
          </a:xfrm>
          <a:prstGeom prst="rect">
            <a:avLst/>
          </a:prstGeom>
          <a:noFill/>
        </p:spPr>
        <p:txBody>
          <a:bodyPr wrap="square" lIns="0" tIns="0" rIns="0" bIns="0" anchor="t">
            <a:spAutoFit/>
          </a:bodyPr>
          <a:lstStyle/>
          <a:p>
            <a:pPr algn="ctr">
              <a:lnSpc>
                <a:spcPct val="100000"/>
              </a:lnSpc>
            </a:pPr>
            <a:r>
              <a:rPr sz="3000" b="1" i="0">
                <a:solidFill>
                  <a:srgbClr val="8E1E3F"/>
                </a:solidFill>
                <a:latin typeface="Calibri"/>
              </a:rPr>
              <a:t>~20</a:t>
            </a:r>
          </a:p>
        </p:txBody>
      </p:sp>
      <p:sp>
        <p:nvSpPr>
          <p:cNvPr id="8" name="TextBox 7"/>
          <p:cNvSpPr txBox="1"/>
          <p:nvPr/>
        </p:nvSpPr>
        <p:spPr>
          <a:xfrm>
            <a:off x="777240" y="3044952"/>
            <a:ext cx="2331720" cy="502920"/>
          </a:xfrm>
          <a:prstGeom prst="rect">
            <a:avLst/>
          </a:prstGeom>
          <a:noFill/>
        </p:spPr>
        <p:txBody>
          <a:bodyPr wrap="square" lIns="0" tIns="0" rIns="0" bIns="0" anchor="t">
            <a:spAutoFit/>
          </a:bodyPr>
          <a:lstStyle/>
          <a:p>
            <a:pPr algn="ctr">
              <a:lnSpc>
                <a:spcPct val="100000"/>
              </a:lnSpc>
            </a:pPr>
            <a:r>
              <a:rPr sz="1150" b="0" i="0">
                <a:solidFill>
                  <a:srgbClr val="4B5563"/>
                </a:solidFill>
                <a:latin typeface="Calibri"/>
              </a:rPr>
              <a:t>tropical cyclones</a:t>
            </a:r>
          </a:p>
          <a:p>
            <a:pPr algn="ctr">
              <a:lnSpc>
                <a:spcPct val="100000"/>
              </a:lnSpc>
            </a:pPr>
            <a:r>
              <a:rPr sz="1150" b="0" i="0">
                <a:solidFill>
                  <a:srgbClr val="4B5563"/>
                </a:solidFill>
                <a:latin typeface="Calibri"/>
              </a:rPr>
              <a:t>enter PH waters yearly</a:t>
            </a:r>
          </a:p>
        </p:txBody>
      </p:sp>
      <p:sp>
        <p:nvSpPr>
          <p:cNvPr id="9" name="Rounded Rectangle 8"/>
          <p:cNvSpPr/>
          <p:nvPr/>
        </p:nvSpPr>
        <p:spPr>
          <a:xfrm>
            <a:off x="3410712" y="1691640"/>
            <a:ext cx="2606040" cy="192024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410712" y="1691640"/>
            <a:ext cx="2606040" cy="64008"/>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10712" y="1947672"/>
            <a:ext cx="2606040" cy="731520"/>
          </a:xfrm>
          <a:prstGeom prst="rect">
            <a:avLst/>
          </a:prstGeom>
          <a:noFill/>
        </p:spPr>
        <p:txBody>
          <a:bodyPr wrap="square" lIns="0" tIns="0" rIns="0" bIns="0" anchor="t">
            <a:spAutoFit/>
          </a:bodyPr>
          <a:lstStyle/>
          <a:p>
            <a:pPr algn="ctr">
              <a:lnSpc>
                <a:spcPct val="100000"/>
              </a:lnSpc>
            </a:pPr>
            <a:r>
              <a:rPr sz="3000" b="1" i="0">
                <a:solidFill>
                  <a:srgbClr val="B78A1E"/>
                </a:solidFill>
                <a:latin typeface="Calibri"/>
              </a:rPr>
              <a:t>7,000+</a:t>
            </a:r>
          </a:p>
        </p:txBody>
      </p:sp>
      <p:sp>
        <p:nvSpPr>
          <p:cNvPr id="12" name="TextBox 11"/>
          <p:cNvSpPr txBox="1"/>
          <p:nvPr/>
        </p:nvSpPr>
        <p:spPr>
          <a:xfrm>
            <a:off x="3547872" y="3044952"/>
            <a:ext cx="2331720" cy="502920"/>
          </a:xfrm>
          <a:prstGeom prst="rect">
            <a:avLst/>
          </a:prstGeom>
          <a:noFill/>
        </p:spPr>
        <p:txBody>
          <a:bodyPr wrap="square" lIns="0" tIns="0" rIns="0" bIns="0" anchor="t">
            <a:spAutoFit/>
          </a:bodyPr>
          <a:lstStyle/>
          <a:p>
            <a:pPr algn="ctr">
              <a:lnSpc>
                <a:spcPct val="100000"/>
              </a:lnSpc>
            </a:pPr>
            <a:r>
              <a:rPr sz="1150" b="0" i="0">
                <a:solidFill>
                  <a:srgbClr val="4B5563"/>
                </a:solidFill>
                <a:latin typeface="Calibri"/>
              </a:rPr>
              <a:t>islands — many with</a:t>
            </a:r>
          </a:p>
          <a:p>
            <a:pPr algn="ctr">
              <a:lnSpc>
                <a:spcPct val="100000"/>
              </a:lnSpc>
            </a:pPr>
            <a:r>
              <a:rPr sz="1150" b="0" i="0">
                <a:solidFill>
                  <a:srgbClr val="4B5563"/>
                </a:solidFill>
                <a:latin typeface="Calibri"/>
              </a:rPr>
              <a:t>fragile telecom coverage</a:t>
            </a:r>
          </a:p>
        </p:txBody>
      </p:sp>
      <p:sp>
        <p:nvSpPr>
          <p:cNvPr id="13" name="Rounded Rectangle 12"/>
          <p:cNvSpPr/>
          <p:nvPr/>
        </p:nvSpPr>
        <p:spPr>
          <a:xfrm>
            <a:off x="6181344" y="1691640"/>
            <a:ext cx="2606040" cy="192024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81344" y="1691640"/>
            <a:ext cx="260604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81344" y="1947672"/>
            <a:ext cx="2606040" cy="731520"/>
          </a:xfrm>
          <a:prstGeom prst="rect">
            <a:avLst/>
          </a:prstGeom>
          <a:noFill/>
        </p:spPr>
        <p:txBody>
          <a:bodyPr wrap="square" lIns="0" tIns="0" rIns="0" bIns="0" anchor="t">
            <a:spAutoFit/>
          </a:bodyPr>
          <a:lstStyle/>
          <a:p>
            <a:pPr algn="ctr">
              <a:lnSpc>
                <a:spcPct val="100000"/>
              </a:lnSpc>
            </a:pPr>
            <a:r>
              <a:rPr sz="3000" b="1" i="0">
                <a:solidFill>
                  <a:srgbClr val="1B3A6B"/>
                </a:solidFill>
                <a:latin typeface="Calibri"/>
              </a:rPr>
              <a:t>1st</a:t>
            </a:r>
          </a:p>
        </p:txBody>
      </p:sp>
      <p:sp>
        <p:nvSpPr>
          <p:cNvPr id="16" name="TextBox 15"/>
          <p:cNvSpPr txBox="1"/>
          <p:nvPr/>
        </p:nvSpPr>
        <p:spPr>
          <a:xfrm>
            <a:off x="6318504" y="3044952"/>
            <a:ext cx="2331720" cy="502920"/>
          </a:xfrm>
          <a:prstGeom prst="rect">
            <a:avLst/>
          </a:prstGeom>
          <a:noFill/>
        </p:spPr>
        <p:txBody>
          <a:bodyPr wrap="square" lIns="0" tIns="0" rIns="0" bIns="0" anchor="t">
            <a:spAutoFit/>
          </a:bodyPr>
          <a:lstStyle/>
          <a:p>
            <a:pPr algn="ctr">
              <a:lnSpc>
                <a:spcPct val="100000"/>
              </a:lnSpc>
            </a:pPr>
            <a:r>
              <a:rPr sz="1150" b="0" i="0">
                <a:solidFill>
                  <a:srgbClr val="4B5563"/>
                </a:solidFill>
                <a:latin typeface="Calibri"/>
              </a:rPr>
              <a:t>of its kind: offline AI +</a:t>
            </a:r>
          </a:p>
          <a:p>
            <a:pPr algn="ctr">
              <a:lnSpc>
                <a:spcPct val="100000"/>
              </a:lnSpc>
            </a:pPr>
            <a:r>
              <a:rPr sz="1150" b="0" i="0">
                <a:solidFill>
                  <a:srgbClr val="4B5563"/>
                </a:solidFill>
                <a:latin typeface="Calibri"/>
              </a:rPr>
              <a:t>mesh disaster platform in PH</a:t>
            </a:r>
          </a:p>
        </p:txBody>
      </p:sp>
      <p:sp>
        <p:nvSpPr>
          <p:cNvPr id="17" name="Rounded Rectangle 16"/>
          <p:cNvSpPr/>
          <p:nvPr/>
        </p:nvSpPr>
        <p:spPr>
          <a:xfrm>
            <a:off x="8951976" y="1691640"/>
            <a:ext cx="2606040" cy="192024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951976" y="1691640"/>
            <a:ext cx="2606040" cy="64008"/>
          </a:xfrm>
          <a:prstGeom prst="roundRect">
            <a:avLst>
              <a:gd name="adj" fmla="val 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51976" y="1947672"/>
            <a:ext cx="2606040" cy="731520"/>
          </a:xfrm>
          <a:prstGeom prst="rect">
            <a:avLst/>
          </a:prstGeom>
          <a:noFill/>
        </p:spPr>
        <p:txBody>
          <a:bodyPr wrap="square" lIns="0" tIns="0" rIns="0" bIns="0" anchor="t">
            <a:spAutoFit/>
          </a:bodyPr>
          <a:lstStyle/>
          <a:p>
            <a:pPr algn="ctr">
              <a:lnSpc>
                <a:spcPct val="100000"/>
              </a:lnSpc>
            </a:pPr>
            <a:r>
              <a:rPr sz="3000" b="1" i="0">
                <a:solidFill>
                  <a:srgbClr val="2E7D4F"/>
                </a:solidFill>
                <a:latin typeface="Calibri"/>
              </a:rPr>
              <a:t>4</a:t>
            </a:r>
          </a:p>
        </p:txBody>
      </p:sp>
      <p:sp>
        <p:nvSpPr>
          <p:cNvPr id="20" name="TextBox 19"/>
          <p:cNvSpPr txBox="1"/>
          <p:nvPr/>
        </p:nvSpPr>
        <p:spPr>
          <a:xfrm>
            <a:off x="9089136" y="3044952"/>
            <a:ext cx="2331720" cy="502920"/>
          </a:xfrm>
          <a:prstGeom prst="rect">
            <a:avLst/>
          </a:prstGeom>
          <a:noFill/>
        </p:spPr>
        <p:txBody>
          <a:bodyPr wrap="square" lIns="0" tIns="0" rIns="0" bIns="0" anchor="t">
            <a:spAutoFit/>
          </a:bodyPr>
          <a:lstStyle/>
          <a:p>
            <a:pPr algn="ctr">
              <a:lnSpc>
                <a:spcPct val="100000"/>
              </a:lnSpc>
            </a:pPr>
            <a:r>
              <a:rPr sz="1150" b="0" i="0">
                <a:solidFill>
                  <a:srgbClr val="4B5563"/>
                </a:solidFill>
                <a:latin typeface="Calibri"/>
              </a:rPr>
              <a:t>user roles unified on</a:t>
            </a:r>
          </a:p>
          <a:p>
            <a:pPr algn="ctr">
              <a:lnSpc>
                <a:spcPct val="100000"/>
              </a:lnSpc>
            </a:pPr>
            <a:r>
              <a:rPr sz="1150" b="0" i="0">
                <a:solidFill>
                  <a:srgbClr val="4B5563"/>
                </a:solidFill>
                <a:latin typeface="Calibri"/>
              </a:rPr>
              <a:t>one shared data model</a:t>
            </a:r>
          </a:p>
        </p:txBody>
      </p:sp>
      <p:sp>
        <p:nvSpPr>
          <p:cNvPr id="21" name="TextBox 20"/>
          <p:cNvSpPr txBox="1"/>
          <p:nvPr/>
        </p:nvSpPr>
        <p:spPr>
          <a:xfrm>
            <a:off x="640080" y="3886200"/>
            <a:ext cx="10927080" cy="2377440"/>
          </a:xfrm>
          <a:prstGeom prst="rect">
            <a:avLst/>
          </a:prstGeom>
          <a:noFill/>
        </p:spPr>
        <p:txBody>
          <a:bodyPr wrap="square" lIns="0" tIns="0" rIns="0" bIns="0" anchor="t">
            <a:spAutoFit/>
          </a:bodyPr>
          <a:lstStyle/>
          <a:p>
            <a:pPr algn="l">
              <a:lnSpc>
                <a:spcPct val="140000"/>
              </a:lnSpc>
            </a:pPr>
            <a:r>
              <a:rPr sz="1400" b="0" i="0">
                <a:solidFill>
                  <a:srgbClr val="1F2937"/>
                </a:solidFill>
                <a:latin typeface="Calibri"/>
              </a:rPr>
              <a:t>The Philippines' geography and storm frequency make it one of the most disaster-exposed nations on earth, and remote or island municipalities are routinely the first to lose connectivity and the last to be reached by aid. By design, SurvAIve PH targets exactly this gap: a platform that keeps functioning, communicating, and reasoning about priorities precisely when and where conventional infrastructure fails — turning the period of greatest isolation into a period of continued coordination instead of an information blackout.</a:t>
            </a:r>
          </a:p>
        </p:txBody>
      </p:sp>
      <p:sp>
        <p:nvSpPr>
          <p:cNvPr id="22" name="TextBox 21"/>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13</a:t>
            </a:r>
          </a:p>
        </p:txBody>
      </p:sp>
      <p:sp>
        <p:nvSpPr>
          <p:cNvPr id="23" name="TextBox 22"/>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24" name="Rounded Rectangle 23"/>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1B3A6B"/>
                </a:solidFill>
                <a:latin typeface="Calibri"/>
              </a:rPr>
              <a:t>ACADEMIC CONTRIBUTION</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Research &amp; Academic Contributions</a:t>
            </a:r>
          </a:p>
        </p:txBody>
      </p:sp>
      <p:sp>
        <p:nvSpPr>
          <p:cNvPr id="5" name="TextBox 4"/>
          <p:cNvSpPr txBox="1"/>
          <p:nvPr/>
        </p:nvSpPr>
        <p:spPr>
          <a:xfrm>
            <a:off x="640080" y="1691640"/>
            <a:ext cx="10927080" cy="4389120"/>
          </a:xfrm>
          <a:prstGeom prst="rect">
            <a:avLst/>
          </a:prstGeom>
          <a:noFill/>
        </p:spPr>
        <p:txBody>
          <a:bodyPr wrap="square" lIns="0" tIns="0" rIns="0" bIns="0">
            <a:spAutoFit/>
          </a:bodyPr>
          <a:lstStyle/>
          <a:p>
            <a:pPr>
              <a:lnSpc>
                <a:spcPct val="120000"/>
              </a:lnSpc>
              <a:spcAft>
                <a:spcPts val="1400"/>
              </a:spcAft>
            </a:pPr>
            <a:r>
              <a:rPr sz="1350" b="1">
                <a:solidFill>
                  <a:srgbClr val="1B3A6B"/>
                </a:solidFill>
                <a:latin typeface="Calibri"/>
              </a:rPr>
              <a:t>▸  </a:t>
            </a:r>
            <a:r>
              <a:rPr sz="1350" b="1">
                <a:solidFill>
                  <a:srgbClr val="1F2937"/>
                </a:solidFill>
                <a:latin typeface="Calibri"/>
              </a:rPr>
              <a:t>Applied AI for Disaster Response — </a:t>
            </a:r>
            <a:r>
              <a:rPr sz="1350">
                <a:solidFill>
                  <a:srgbClr val="4B5563"/>
                </a:solidFill>
                <a:latin typeface="Calibri"/>
              </a:rPr>
              <a:t>Demonstrates a concrete, deployable application of machine learning to triage and resource allocation in a low-resource, low-connectivity setting.</a:t>
            </a:r>
          </a:p>
          <a:p>
            <a:pPr>
              <a:lnSpc>
                <a:spcPct val="120000"/>
              </a:lnSpc>
              <a:spcAft>
                <a:spcPts val="1400"/>
              </a:spcAft>
            </a:pPr>
            <a:r>
              <a:rPr sz="1350" b="1">
                <a:solidFill>
                  <a:srgbClr val="1B3A6B"/>
                </a:solidFill>
                <a:latin typeface="Calibri"/>
              </a:rPr>
              <a:t>▸  </a:t>
            </a:r>
            <a:r>
              <a:rPr sz="1350" b="1">
                <a:solidFill>
                  <a:srgbClr val="1F2937"/>
                </a:solidFill>
                <a:latin typeface="Calibri"/>
              </a:rPr>
              <a:t>Offline-First Software Architecture — </a:t>
            </a:r>
            <a:r>
              <a:rPr sz="1350">
                <a:solidFill>
                  <a:srgbClr val="4B5563"/>
                </a:solidFill>
                <a:latin typeface="Calibri"/>
              </a:rPr>
              <a:t>Contributes a reusable architectural pattern combining local persistence (IndexedDB), opportunistic sync, and mesh relay for connectivity-constrained domains.</a:t>
            </a:r>
          </a:p>
          <a:p>
            <a:pPr>
              <a:lnSpc>
                <a:spcPct val="120000"/>
              </a:lnSpc>
              <a:spcAft>
                <a:spcPts val="1400"/>
              </a:spcAft>
            </a:pPr>
            <a:r>
              <a:rPr sz="1350" b="1">
                <a:solidFill>
                  <a:srgbClr val="1B3A6B"/>
                </a:solidFill>
                <a:latin typeface="Calibri"/>
              </a:rPr>
              <a:t>▸  </a:t>
            </a:r>
            <a:r>
              <a:rPr sz="1350" b="1">
                <a:solidFill>
                  <a:srgbClr val="1F2937"/>
                </a:solidFill>
                <a:latin typeface="Calibri"/>
              </a:rPr>
              <a:t>Mesh Networking for Civic &amp; Emergency Use — </a:t>
            </a:r>
            <a:r>
              <a:rPr sz="1350">
                <a:solidFill>
                  <a:srgbClr val="4B5563"/>
                </a:solidFill>
                <a:latin typeface="Calibri"/>
              </a:rPr>
              <a:t>Extends mesh networking research, typically explored in IoT/military contexts, into civilian disaster management for the Philippine setting.</a:t>
            </a:r>
          </a:p>
          <a:p>
            <a:pPr>
              <a:lnSpc>
                <a:spcPct val="120000"/>
              </a:lnSpc>
              <a:spcAft>
                <a:spcPts val="1400"/>
              </a:spcAft>
            </a:pPr>
            <a:r>
              <a:rPr sz="1350" b="1">
                <a:solidFill>
                  <a:srgbClr val="1B3A6B"/>
                </a:solidFill>
                <a:latin typeface="Calibri"/>
              </a:rPr>
              <a:t>▸  </a:t>
            </a:r>
            <a:r>
              <a:rPr sz="1350" b="1">
                <a:solidFill>
                  <a:srgbClr val="1F2937"/>
                </a:solidFill>
                <a:latin typeface="Calibri"/>
              </a:rPr>
              <a:t>Multi-Role Data Governance Model — </a:t>
            </a:r>
            <a:r>
              <a:rPr sz="1350">
                <a:solidFill>
                  <a:srgbClr val="4B5563"/>
                </a:solidFill>
                <a:latin typeface="Calibri"/>
              </a:rPr>
              <a:t>Proposes a structured access-control hierarchy spanning citizen, responder, LGU, and national (DOST) levels.</a:t>
            </a:r>
          </a:p>
          <a:p>
            <a:pPr>
              <a:lnSpc>
                <a:spcPct val="120000"/>
              </a:lnSpc>
              <a:spcAft>
                <a:spcPts val="1400"/>
              </a:spcAft>
            </a:pPr>
            <a:r>
              <a:rPr sz="1350" b="1">
                <a:solidFill>
                  <a:srgbClr val="1B3A6B"/>
                </a:solidFill>
                <a:latin typeface="Calibri"/>
              </a:rPr>
              <a:t>▸  </a:t>
            </a:r>
            <a:r>
              <a:rPr sz="1350" b="1">
                <a:solidFill>
                  <a:srgbClr val="1F2937"/>
                </a:solidFill>
                <a:latin typeface="Calibri"/>
              </a:rPr>
              <a:t>A Foundation for Future MSIT Research — </a:t>
            </a:r>
            <a:r>
              <a:rPr sz="1350">
                <a:solidFill>
                  <a:srgbClr val="4B5563"/>
                </a:solidFill>
                <a:latin typeface="Calibri"/>
              </a:rPr>
              <a:t>Establishes a working testbed for further studies in edge AI, disaster informatics, and resilient communication systems in the Philippine context.</a:t>
            </a:r>
          </a:p>
        </p:txBody>
      </p:sp>
      <p:sp>
        <p:nvSpPr>
          <p:cNvPr id="6" name="TextBox 5"/>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14</a:t>
            </a:r>
          </a:p>
        </p:txBody>
      </p:sp>
      <p:sp>
        <p:nvSpPr>
          <p:cNvPr id="7" name="TextBox 6"/>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8" name="Rounded Rectangle 7"/>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2E7D4F"/>
                </a:solidFill>
                <a:latin typeface="Calibri"/>
              </a:rPr>
              <a:t>IMPACT</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000" b="1" i="0">
                <a:solidFill>
                  <a:srgbClr val="122647"/>
                </a:solidFill>
                <a:latin typeface="Calibri"/>
              </a:rPr>
              <a:t>Expected Outcomes</a:t>
            </a:r>
          </a:p>
        </p:txBody>
      </p:sp>
      <p:sp>
        <p:nvSpPr>
          <p:cNvPr id="5" name="Rounded Rectangle 4"/>
          <p:cNvSpPr/>
          <p:nvPr/>
        </p:nvSpPr>
        <p:spPr>
          <a:xfrm>
            <a:off x="640080" y="1691640"/>
            <a:ext cx="5349240" cy="210312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14400" y="1984248"/>
            <a:ext cx="457200" cy="64008"/>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130552"/>
            <a:ext cx="4800600" cy="548640"/>
          </a:xfrm>
          <a:prstGeom prst="rect">
            <a:avLst/>
          </a:prstGeom>
          <a:noFill/>
        </p:spPr>
        <p:txBody>
          <a:bodyPr wrap="square" lIns="0" tIns="0" rIns="0" bIns="0" anchor="t">
            <a:spAutoFit/>
          </a:bodyPr>
          <a:lstStyle/>
          <a:p>
            <a:pPr algn="l">
              <a:lnSpc>
                <a:spcPct val="100000"/>
              </a:lnSpc>
            </a:pPr>
            <a:r>
              <a:rPr sz="1500" b="1" i="0">
                <a:solidFill>
                  <a:srgbClr val="122647"/>
                </a:solidFill>
                <a:latin typeface="Calibri"/>
              </a:rPr>
              <a:t>Faster First Response</a:t>
            </a:r>
          </a:p>
        </p:txBody>
      </p:sp>
      <p:sp>
        <p:nvSpPr>
          <p:cNvPr id="8" name="TextBox 7"/>
          <p:cNvSpPr txBox="1"/>
          <p:nvPr/>
        </p:nvSpPr>
        <p:spPr>
          <a:xfrm>
            <a:off x="914400" y="2679192"/>
            <a:ext cx="4800600" cy="960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AI-prioritized SOS queues shrink the time between a report and dispatch.</a:t>
            </a:r>
          </a:p>
        </p:txBody>
      </p:sp>
      <p:sp>
        <p:nvSpPr>
          <p:cNvPr id="9" name="Rounded Rectangle 8"/>
          <p:cNvSpPr/>
          <p:nvPr/>
        </p:nvSpPr>
        <p:spPr>
          <a:xfrm>
            <a:off x="6217920" y="1691640"/>
            <a:ext cx="5349240" cy="210312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92240" y="1984248"/>
            <a:ext cx="457200" cy="64008"/>
          </a:xfrm>
          <a:prstGeom prst="roundRect">
            <a:avLst>
              <a:gd name="adj" fmla="val 0"/>
            </a:avLst>
          </a:prstGeom>
          <a:solidFill>
            <a:srgbClr val="8E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2130552"/>
            <a:ext cx="4800600" cy="548640"/>
          </a:xfrm>
          <a:prstGeom prst="rect">
            <a:avLst/>
          </a:prstGeom>
          <a:noFill/>
        </p:spPr>
        <p:txBody>
          <a:bodyPr wrap="square" lIns="0" tIns="0" rIns="0" bIns="0" anchor="t">
            <a:spAutoFit/>
          </a:bodyPr>
          <a:lstStyle/>
          <a:p>
            <a:pPr algn="l">
              <a:lnSpc>
                <a:spcPct val="100000"/>
              </a:lnSpc>
            </a:pPr>
            <a:r>
              <a:rPr sz="1500" b="1" i="0">
                <a:solidFill>
                  <a:srgbClr val="122647"/>
                </a:solidFill>
                <a:latin typeface="Calibri"/>
              </a:rPr>
              <a:t>Continuity During Blackouts</a:t>
            </a:r>
          </a:p>
        </p:txBody>
      </p:sp>
      <p:sp>
        <p:nvSpPr>
          <p:cNvPr id="12" name="TextBox 11"/>
          <p:cNvSpPr txBox="1"/>
          <p:nvPr/>
        </p:nvSpPr>
        <p:spPr>
          <a:xfrm>
            <a:off x="6492240" y="2679192"/>
            <a:ext cx="4800600" cy="960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Communities stay informed and connected even when towers and internet are down.</a:t>
            </a:r>
          </a:p>
        </p:txBody>
      </p:sp>
      <p:sp>
        <p:nvSpPr>
          <p:cNvPr id="13" name="Rounded Rectangle 12"/>
          <p:cNvSpPr/>
          <p:nvPr/>
        </p:nvSpPr>
        <p:spPr>
          <a:xfrm>
            <a:off x="640080" y="4023360"/>
            <a:ext cx="5349240" cy="210312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400" y="4315968"/>
            <a:ext cx="457200" cy="64008"/>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462272"/>
            <a:ext cx="4800600" cy="548640"/>
          </a:xfrm>
          <a:prstGeom prst="rect">
            <a:avLst/>
          </a:prstGeom>
          <a:noFill/>
        </p:spPr>
        <p:txBody>
          <a:bodyPr wrap="square" lIns="0" tIns="0" rIns="0" bIns="0" anchor="t">
            <a:spAutoFit/>
          </a:bodyPr>
          <a:lstStyle/>
          <a:p>
            <a:pPr algn="l">
              <a:lnSpc>
                <a:spcPct val="100000"/>
              </a:lnSpc>
            </a:pPr>
            <a:r>
              <a:rPr sz="1500" b="1" i="0">
                <a:solidFill>
                  <a:srgbClr val="122647"/>
                </a:solidFill>
                <a:latin typeface="Calibri"/>
              </a:rPr>
              <a:t>Data-Driven LGU Decisions</a:t>
            </a:r>
          </a:p>
        </p:txBody>
      </p:sp>
      <p:sp>
        <p:nvSpPr>
          <p:cNvPr id="16" name="TextBox 15"/>
          <p:cNvSpPr txBox="1"/>
          <p:nvPr/>
        </p:nvSpPr>
        <p:spPr>
          <a:xfrm>
            <a:off x="914400" y="5010912"/>
            <a:ext cx="4800600" cy="960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Admins gain real-time, evidence-based visibility instead of delayed manual reports.</a:t>
            </a:r>
          </a:p>
        </p:txBody>
      </p:sp>
      <p:sp>
        <p:nvSpPr>
          <p:cNvPr id="17" name="Rounded Rectangle 16"/>
          <p:cNvSpPr/>
          <p:nvPr/>
        </p:nvSpPr>
        <p:spPr>
          <a:xfrm>
            <a:off x="6217920" y="4023360"/>
            <a:ext cx="5349240" cy="210312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492240" y="4315968"/>
            <a:ext cx="457200" cy="64008"/>
          </a:xfrm>
          <a:prstGeom prst="roundRect">
            <a:avLst>
              <a:gd name="adj" fmla="val 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4462272"/>
            <a:ext cx="4800600" cy="548640"/>
          </a:xfrm>
          <a:prstGeom prst="rect">
            <a:avLst/>
          </a:prstGeom>
          <a:noFill/>
        </p:spPr>
        <p:txBody>
          <a:bodyPr wrap="square" lIns="0" tIns="0" rIns="0" bIns="0" anchor="t">
            <a:spAutoFit/>
          </a:bodyPr>
          <a:lstStyle/>
          <a:p>
            <a:pPr algn="l">
              <a:lnSpc>
                <a:spcPct val="100000"/>
              </a:lnSpc>
            </a:pPr>
            <a:r>
              <a:rPr sz="1500" b="1" i="0">
                <a:solidFill>
                  <a:srgbClr val="122647"/>
                </a:solidFill>
                <a:latin typeface="Calibri"/>
              </a:rPr>
              <a:t>A Scalable National Model</a:t>
            </a:r>
          </a:p>
        </p:txBody>
      </p:sp>
      <p:sp>
        <p:nvSpPr>
          <p:cNvPr id="20" name="TextBox 19"/>
          <p:cNvSpPr txBox="1"/>
          <p:nvPr/>
        </p:nvSpPr>
        <p:spPr>
          <a:xfrm>
            <a:off x="6492240" y="5010912"/>
            <a:ext cx="4800600" cy="960120"/>
          </a:xfrm>
          <a:prstGeom prst="rect">
            <a:avLst/>
          </a:prstGeom>
          <a:noFill/>
        </p:spPr>
        <p:txBody>
          <a:bodyPr wrap="square" lIns="0" tIns="0" rIns="0" bIns="0" anchor="t">
            <a:spAutoFit/>
          </a:bodyPr>
          <a:lstStyle/>
          <a:p>
            <a:pPr algn="l">
              <a:lnSpc>
                <a:spcPct val="125000"/>
              </a:lnSpc>
            </a:pPr>
            <a:r>
              <a:rPr sz="1150" b="0" i="0">
                <a:solidFill>
                  <a:srgbClr val="4B5563"/>
                </a:solidFill>
                <a:latin typeface="Calibri"/>
              </a:rPr>
              <a:t>Architecture designed to extend from barangay pilots to provincial and DOST-level rollout.</a:t>
            </a:r>
          </a:p>
        </p:txBody>
      </p:sp>
      <p:sp>
        <p:nvSpPr>
          <p:cNvPr id="21" name="TextBox 20"/>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15</a:t>
            </a:r>
          </a:p>
        </p:txBody>
      </p:sp>
      <p:sp>
        <p:nvSpPr>
          <p:cNvPr id="22" name="TextBox 21"/>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23" name="Rounded Rectangle 22"/>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7315200" cy="365760"/>
          </a:xfrm>
          <a:prstGeom prst="rect">
            <a:avLst/>
          </a:prstGeom>
          <a:noFill/>
        </p:spPr>
        <p:txBody>
          <a:bodyPr wrap="square" lIns="0" tIns="0" rIns="0" bIns="0" anchor="t">
            <a:spAutoFit/>
          </a:bodyPr>
          <a:lstStyle/>
          <a:p>
            <a:pPr algn="l">
              <a:lnSpc>
                <a:spcPct val="100000"/>
              </a:lnSpc>
            </a:pPr>
            <a:r>
              <a:rPr sz="1300" b="1" i="0">
                <a:solidFill>
                  <a:srgbClr val="8E1E3F"/>
                </a:solidFill>
                <a:latin typeface="Calibri"/>
              </a:rPr>
              <a:t>CONCLUSION</a:t>
            </a:r>
          </a:p>
        </p:txBody>
      </p:sp>
      <p:sp>
        <p:nvSpPr>
          <p:cNvPr id="4" name="TextBox 3"/>
          <p:cNvSpPr txBox="1"/>
          <p:nvPr/>
        </p:nvSpPr>
        <p:spPr>
          <a:xfrm>
            <a:off x="640080" y="658368"/>
            <a:ext cx="10881360" cy="822960"/>
          </a:xfrm>
          <a:prstGeom prst="rect">
            <a:avLst/>
          </a:prstGeom>
          <a:noFill/>
        </p:spPr>
        <p:txBody>
          <a:bodyPr wrap="square" lIns="0" tIns="0" rIns="0" bIns="0" anchor="t">
            <a:spAutoFit/>
          </a:bodyPr>
          <a:lstStyle/>
          <a:p>
            <a:pPr algn="l">
              <a:lnSpc>
                <a:spcPct val="100000"/>
              </a:lnSpc>
            </a:pPr>
            <a:r>
              <a:rPr sz="3200" b="1" i="0">
                <a:solidFill>
                  <a:srgbClr val="122647"/>
                </a:solidFill>
                <a:latin typeface="Calibri"/>
              </a:rPr>
              <a:t>A Resilient, Intelligent Path Forward</a:t>
            </a:r>
          </a:p>
        </p:txBody>
      </p:sp>
      <p:sp>
        <p:nvSpPr>
          <p:cNvPr id="5" name="Rounded Rectangle 4"/>
          <p:cNvSpPr/>
          <p:nvPr/>
        </p:nvSpPr>
        <p:spPr>
          <a:xfrm>
            <a:off x="640080" y="1783080"/>
            <a:ext cx="10927080" cy="4206240"/>
          </a:xfrm>
          <a:prstGeom prst="roundRect">
            <a:avLst>
              <a:gd name="adj" fmla="val 5000"/>
            </a:avLst>
          </a:prstGeom>
          <a:solidFill>
            <a:srgbClr val="F6F8FB"/>
          </a:solidFill>
          <a:ln w="9525">
            <a:solidFill>
              <a:srgbClr val="DBE1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783080"/>
            <a:ext cx="10927080" cy="64008"/>
          </a:xfrm>
          <a:prstGeom prst="roundRect">
            <a:avLst>
              <a:gd name="adj" fmla="val 0"/>
            </a:avLst>
          </a:prstGeom>
          <a:solidFill>
            <a:srgbClr val="8E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57400"/>
            <a:ext cx="10332720" cy="3566160"/>
          </a:xfrm>
          <a:prstGeom prst="rect">
            <a:avLst/>
          </a:prstGeom>
          <a:noFill/>
        </p:spPr>
        <p:txBody>
          <a:bodyPr wrap="square" lIns="0" tIns="0" rIns="0" bIns="0" anchor="t">
            <a:spAutoFit/>
          </a:bodyPr>
          <a:lstStyle/>
          <a:p>
            <a:pPr algn="l">
              <a:lnSpc>
                <a:spcPct val="145000"/>
              </a:lnSpc>
            </a:pPr>
            <a:r>
              <a:rPr sz="1500" b="0" i="0">
                <a:solidFill>
                  <a:srgbClr val="1F2937"/>
                </a:solidFill>
                <a:latin typeface="Calibri"/>
              </a:rPr>
              <a:t>SurvAIve PH brings together offline-first engineering, mesh networking, and applied AI into a single platform purpose-built for the realities of disaster response in the Philippines. By keeping communication and intelligence alive precisely when conventional infrastructure fails, it offers communities, responders, and government agencies a shared, continuously-updated picture of an unfolding emergency — and a template for how disaster management technology in the country can evolve. We respectfully present SurvAIve PH for the panel's consideration as a Capstone Project for the Master of Science in Information Technology program.</a:t>
            </a:r>
          </a:p>
        </p:txBody>
      </p:sp>
      <p:sp>
        <p:nvSpPr>
          <p:cNvPr id="8" name="TextBox 7"/>
          <p:cNvSpPr txBox="1"/>
          <p:nvPr/>
        </p:nvSpPr>
        <p:spPr>
          <a:xfrm>
            <a:off x="11475720" y="6510528"/>
            <a:ext cx="548640" cy="274320"/>
          </a:xfrm>
          <a:prstGeom prst="rect">
            <a:avLst/>
          </a:prstGeom>
          <a:noFill/>
        </p:spPr>
        <p:txBody>
          <a:bodyPr wrap="square" lIns="0" tIns="0" rIns="0" bIns="0" anchor="t">
            <a:spAutoFit/>
          </a:bodyPr>
          <a:lstStyle/>
          <a:p>
            <a:pPr algn="r">
              <a:lnSpc>
                <a:spcPct val="100000"/>
              </a:lnSpc>
            </a:pPr>
            <a:r>
              <a:rPr sz="1000" b="0" i="0">
                <a:solidFill>
                  <a:srgbClr val="6B7480"/>
                </a:solidFill>
                <a:latin typeface="Calibri"/>
              </a:rPr>
              <a:t>16</a:t>
            </a:r>
          </a:p>
        </p:txBody>
      </p:sp>
      <p:sp>
        <p:nvSpPr>
          <p:cNvPr id="9" name="TextBox 8"/>
          <p:cNvSpPr txBox="1"/>
          <p:nvPr/>
        </p:nvSpPr>
        <p:spPr>
          <a:xfrm>
            <a:off x="640080" y="6510528"/>
            <a:ext cx="4572000" cy="274320"/>
          </a:xfrm>
          <a:prstGeom prst="rect">
            <a:avLst/>
          </a:prstGeom>
          <a:noFill/>
        </p:spPr>
        <p:txBody>
          <a:bodyPr wrap="square" lIns="0" tIns="0" rIns="0" bIns="0" anchor="t">
            <a:spAutoFit/>
          </a:bodyPr>
          <a:lstStyle/>
          <a:p>
            <a:pPr algn="l">
              <a:lnSpc>
                <a:spcPct val="100000"/>
              </a:lnSpc>
            </a:pPr>
            <a:r>
              <a:rPr sz="900" b="0" i="0">
                <a:solidFill>
                  <a:srgbClr val="6B7480"/>
                </a:solidFill>
                <a:latin typeface="Calibri"/>
              </a:rPr>
              <a:t>SurvAIve PH  |  MSIT Capstone Title Hearing</a:t>
            </a:r>
          </a:p>
        </p:txBody>
      </p:sp>
      <p:sp>
        <p:nvSpPr>
          <p:cNvPr id="10" name="Rounded Rectangle 9"/>
          <p:cNvSpPr/>
          <p:nvPr/>
        </p:nvSpPr>
        <p:spPr>
          <a:xfrm>
            <a:off x="640080" y="6400800"/>
            <a:ext cx="10927080" cy="9525"/>
          </a:xfrm>
          <a:prstGeom prst="roundRect">
            <a:avLst>
              <a:gd name="adj" fmla="val 0"/>
            </a:avLst>
          </a:prstGeom>
          <a:solidFill>
            <a:srgbClr val="DBE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0" y="0"/>
            <a:ext cx="12191695" cy="164592"/>
          </a:xfrm>
          <a:prstGeom prst="roundRect">
            <a:avLst>
              <a:gd name="adj" fmla="val 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2468880"/>
            <a:ext cx="10515600" cy="1097280"/>
          </a:xfrm>
          <a:prstGeom prst="rect">
            <a:avLst/>
          </a:prstGeom>
          <a:noFill/>
        </p:spPr>
        <p:txBody>
          <a:bodyPr wrap="square" lIns="0" tIns="0" rIns="0" bIns="0" anchor="t">
            <a:spAutoFit/>
          </a:bodyPr>
          <a:lstStyle/>
          <a:p>
            <a:pPr algn="l">
              <a:lnSpc>
                <a:spcPct val="100000"/>
              </a:lnSpc>
            </a:pPr>
            <a:r>
              <a:rPr sz="5600" b="1" i="0">
                <a:solidFill>
                  <a:srgbClr val="122647"/>
                </a:solidFill>
                <a:latin typeface="Calibri"/>
              </a:rPr>
              <a:t>Thank You</a:t>
            </a:r>
          </a:p>
        </p:txBody>
      </p:sp>
      <p:sp>
        <p:nvSpPr>
          <p:cNvPr id="5" name="TextBox 4"/>
          <p:cNvSpPr txBox="1"/>
          <p:nvPr/>
        </p:nvSpPr>
        <p:spPr>
          <a:xfrm>
            <a:off x="658368" y="3520440"/>
            <a:ext cx="10515600" cy="548640"/>
          </a:xfrm>
          <a:prstGeom prst="rect">
            <a:avLst/>
          </a:prstGeom>
          <a:noFill/>
        </p:spPr>
        <p:txBody>
          <a:bodyPr wrap="square" lIns="0" tIns="0" rIns="0" bIns="0" anchor="t">
            <a:spAutoFit/>
          </a:bodyPr>
          <a:lstStyle/>
          <a:p>
            <a:pPr algn="l">
              <a:lnSpc>
                <a:spcPct val="100000"/>
              </a:lnSpc>
            </a:pPr>
            <a:r>
              <a:rPr sz="2000" b="0" i="1">
                <a:solidFill>
                  <a:srgbClr val="8E1E3F"/>
                </a:solidFill>
                <a:latin typeface="Calibri"/>
              </a:rPr>
              <a:t>Questions &amp; Open Discussion</a:t>
            </a:r>
          </a:p>
        </p:txBody>
      </p:sp>
      <p:sp>
        <p:nvSpPr>
          <p:cNvPr id="6" name="Rounded Rectangle 5"/>
          <p:cNvSpPr/>
          <p:nvPr/>
        </p:nvSpPr>
        <p:spPr>
          <a:xfrm>
            <a:off x="640080" y="4160520"/>
            <a:ext cx="822960" cy="54864"/>
          </a:xfrm>
          <a:prstGeom prst="roundRect">
            <a:avLst>
              <a:gd name="adj" fmla="val 0"/>
            </a:avLst>
          </a:prstGeom>
          <a:solidFill>
            <a:srgbClr val="B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5349240"/>
            <a:ext cx="7315200" cy="365760"/>
          </a:xfrm>
          <a:prstGeom prst="rect">
            <a:avLst/>
          </a:prstGeom>
          <a:noFill/>
        </p:spPr>
        <p:txBody>
          <a:bodyPr wrap="square" lIns="0" tIns="0" rIns="0" bIns="0" anchor="t">
            <a:spAutoFit/>
          </a:bodyPr>
          <a:lstStyle/>
          <a:p>
            <a:pPr algn="l">
              <a:lnSpc>
                <a:spcPct val="100000"/>
              </a:lnSpc>
            </a:pPr>
            <a:r>
              <a:rPr sz="1400" b="1" i="0">
                <a:solidFill>
                  <a:srgbClr val="6B7480"/>
                </a:solidFill>
                <a:latin typeface="Calibri"/>
              </a:rPr>
              <a:t>SurvAIve PH</a:t>
            </a:r>
          </a:p>
        </p:txBody>
      </p:sp>
      <p:sp>
        <p:nvSpPr>
          <p:cNvPr id="8" name="TextBox 7"/>
          <p:cNvSpPr txBox="1"/>
          <p:nvPr/>
        </p:nvSpPr>
        <p:spPr>
          <a:xfrm>
            <a:off x="640080" y="5669280"/>
            <a:ext cx="9144000" cy="365760"/>
          </a:xfrm>
          <a:prstGeom prst="rect">
            <a:avLst/>
          </a:prstGeom>
          <a:noFill/>
        </p:spPr>
        <p:txBody>
          <a:bodyPr wrap="square" lIns="0" tIns="0" rIns="0" bIns="0" anchor="t">
            <a:spAutoFit/>
          </a:bodyPr>
          <a:lstStyle/>
          <a:p>
            <a:pPr algn="l">
              <a:lnSpc>
                <a:spcPct val="100000"/>
              </a:lnSpc>
            </a:pPr>
            <a:r>
              <a:rPr sz="1200" b="0" i="0">
                <a:solidFill>
                  <a:srgbClr val="6B7480"/>
                </a:solidFill>
                <a:latin typeface="Calibri"/>
              </a:rPr>
              <a:t>MSIT Capstone Title Hearing  ·  [Proponent Name(s)]  ·  [Adviser Name]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TotalTime>
  <Words>1778</Words>
  <Application>Microsoft Office PowerPoint</Application>
  <PresentationFormat>Widescreen</PresentationFormat>
  <Paragraphs>215</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Mark Anthony Golo</cp:lastModifiedBy>
  <cp:revision>2</cp:revision>
  <dcterms:created xsi:type="dcterms:W3CDTF">2013-01-27T09:14:16Z</dcterms:created>
  <dcterms:modified xsi:type="dcterms:W3CDTF">2026-06-24T07:18:06Z</dcterms:modified>
  <cp:category/>
</cp:coreProperties>
</file>